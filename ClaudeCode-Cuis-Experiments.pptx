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3"/>
  </p:notesMasterIdLst>
  <p:sldIdLst>
    <p:sldId id="256" r:id="rId2"/>
    <p:sldId id="286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289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3" r:id="rId22"/>
    <p:sldId id="312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44" r:id="rId42"/>
    <p:sldId id="333" r:id="rId43"/>
    <p:sldId id="334" r:id="rId44"/>
    <p:sldId id="345" r:id="rId45"/>
    <p:sldId id="332" r:id="rId46"/>
    <p:sldId id="335" r:id="rId47"/>
    <p:sldId id="336" r:id="rId48"/>
    <p:sldId id="338" r:id="rId49"/>
    <p:sldId id="337" r:id="rId50"/>
    <p:sldId id="339" r:id="rId51"/>
    <p:sldId id="340" r:id="rId52"/>
    <p:sldId id="341" r:id="rId53"/>
    <p:sldId id="342" r:id="rId54"/>
    <p:sldId id="263" r:id="rId55"/>
    <p:sldId id="260" r:id="rId56"/>
    <p:sldId id="264" r:id="rId57"/>
    <p:sldId id="26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  <p:sldId id="356" r:id="rId69"/>
    <p:sldId id="358" r:id="rId70"/>
    <p:sldId id="357" r:id="rId71"/>
    <p:sldId id="359" r:id="rId72"/>
    <p:sldId id="360" r:id="rId73"/>
    <p:sldId id="361" r:id="rId74"/>
    <p:sldId id="362" r:id="rId75"/>
    <p:sldId id="363" r:id="rId76"/>
    <p:sldId id="364" r:id="rId77"/>
    <p:sldId id="365" r:id="rId78"/>
    <p:sldId id="366" r:id="rId79"/>
    <p:sldId id="367" r:id="rId80"/>
    <p:sldId id="368" r:id="rId81"/>
    <p:sldId id="370" r:id="rId82"/>
    <p:sldId id="371" r:id="rId83"/>
    <p:sldId id="372" r:id="rId84"/>
    <p:sldId id="369" r:id="rId85"/>
    <p:sldId id="373" r:id="rId86"/>
    <p:sldId id="374" r:id="rId87"/>
    <p:sldId id="375" r:id="rId88"/>
    <p:sldId id="376" r:id="rId89"/>
    <p:sldId id="378" r:id="rId90"/>
    <p:sldId id="380" r:id="rId91"/>
    <p:sldId id="379" r:id="rId9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 snapToObjects="1">
      <p:cViewPr>
        <p:scale>
          <a:sx n="150" d="100"/>
          <a:sy n="150" d="100"/>
        </p:scale>
        <p:origin x="90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698E6-1F87-3249-8548-2D03D268745A}" type="datetimeFigureOut">
              <a:rPr lang="en-AR" smtClean="0"/>
              <a:t>16/09/2026</a:t>
            </a:fld>
            <a:endParaRPr lang="en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B513C-CB22-AA46-A264-136A37D3EF6D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87315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tamaños de schema son las descripciones JSON de herramientas que Claude Code manda en cada request; medidos en los experimentos 004, 005 y 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775972"/>
            <a:ext cx="110944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R" sz="4000" b="1" dirty="0"/>
              <a:t>Experiencia, Hipótesis y Conclusiones de implementar un MCP server para Smalltalk usando el MCP server para Smalltalk.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869269"/>
            <a:ext cx="27432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052149"/>
            <a:ext cx="110944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dirty="0">
                <a:solidFill>
                  <a:srgbClr val="666666"/>
                </a:solidFill>
                <a:latin typeface="Calibri"/>
              </a:rPr>
              <a:t>Hernán Wilkinson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263E-C17C-CFB1-BD7D-0313C75E0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Todo empezó con Joel usando </a:t>
            </a:r>
            <a:br>
              <a:rPr lang="en-AR" dirty="0"/>
            </a:br>
            <a:r>
              <a:rPr lang="en-AR" dirty="0"/>
              <a:t>“un MCP Server” en el GUIDesigner</a:t>
            </a:r>
          </a:p>
        </p:txBody>
      </p:sp>
    </p:spTree>
    <p:extLst>
      <p:ext uri="{BB962C8B-B14F-4D97-AF65-F5344CB8AC3E}">
        <p14:creationId xmlns:p14="http://schemas.microsoft.com/office/powerpoint/2010/main" val="374969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D0FD-0CA5-A12A-F59B-5F4AD2EB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179F-4875-0ADB-0D86-3FC930B81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Tool: evaluate</a:t>
            </a:r>
          </a:p>
        </p:txBody>
      </p:sp>
    </p:spTree>
    <p:extLst>
      <p:ext uri="{BB962C8B-B14F-4D97-AF65-F5344CB8AC3E}">
        <p14:creationId xmlns:p14="http://schemas.microsoft.com/office/powerpoint/2010/main" val="429307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94718-A4B0-153D-C639-B16A850F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E9C6-F34A-12A2-D135-AA3548401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Otras tools: save_image, define_class, define_method, etc</a:t>
            </a:r>
          </a:p>
        </p:txBody>
      </p:sp>
    </p:spTree>
    <p:extLst>
      <p:ext uri="{BB962C8B-B14F-4D97-AF65-F5344CB8AC3E}">
        <p14:creationId xmlns:p14="http://schemas.microsoft.com/office/powerpoint/2010/main" val="172784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4CE7-AA1F-61EF-B934-DD5F311A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EBC7-53F6-E562-49F1-152939EA5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Comunicación: stdio</a:t>
            </a:r>
            <a:br>
              <a:rPr lang="en-AR" dirty="0"/>
            </a:br>
            <a:r>
              <a:rPr lang="en-AR" dirty="0"/>
              <a:t>(uno x sesión, limite de size de string)</a:t>
            </a:r>
          </a:p>
        </p:txBody>
      </p:sp>
    </p:spTree>
    <p:extLst>
      <p:ext uri="{BB962C8B-B14F-4D97-AF65-F5344CB8AC3E}">
        <p14:creationId xmlns:p14="http://schemas.microsoft.com/office/powerpoint/2010/main" val="368581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BEE6-3D8F-8C5A-40DC-6BE7A466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2002-B0FC-5D76-82FF-A92F77DFC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Un alumno me pide que le diriga la tesis…</a:t>
            </a:r>
          </a:p>
        </p:txBody>
      </p:sp>
    </p:spTree>
    <p:extLst>
      <p:ext uri="{BB962C8B-B14F-4D97-AF65-F5344CB8AC3E}">
        <p14:creationId xmlns:p14="http://schemas.microsoft.com/office/powerpoint/2010/main" val="29369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B859-5128-A846-CDB3-3F0B27FE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E915-3D31-4F25-E9BD-693D9F0F4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Muchas ideas: refactorings, asistente de programación, etc</a:t>
            </a:r>
          </a:p>
        </p:txBody>
      </p:sp>
    </p:spTree>
    <p:extLst>
      <p:ext uri="{BB962C8B-B14F-4D97-AF65-F5344CB8AC3E}">
        <p14:creationId xmlns:p14="http://schemas.microsoft.com/office/powerpoint/2010/main" val="89103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EB3B6-A408-86E4-4FD6-6C45D5CD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111A-C22D-D451-2F4F-1619FBB1C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Asistente de programación …</a:t>
            </a:r>
          </a:p>
        </p:txBody>
      </p:sp>
    </p:spTree>
    <p:extLst>
      <p:ext uri="{BB962C8B-B14F-4D97-AF65-F5344CB8AC3E}">
        <p14:creationId xmlns:p14="http://schemas.microsoft.com/office/powerpoint/2010/main" val="76492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47D0-3B97-8BE2-484F-4B373401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2301-0782-9B46-3AC8-9A2DCCB39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790" y="2595120"/>
            <a:ext cx="10122108" cy="1470025"/>
          </a:xfrm>
        </p:spPr>
        <p:txBody>
          <a:bodyPr>
            <a:normAutofit/>
          </a:bodyPr>
          <a:lstStyle/>
          <a:p>
            <a:r>
              <a:rPr lang="en-AR" dirty="0"/>
              <a:t>¿Por qué no hacer que desde Smalltalk se le pueda preguntar a un LLM?</a:t>
            </a:r>
          </a:p>
        </p:txBody>
      </p:sp>
    </p:spTree>
    <p:extLst>
      <p:ext uri="{BB962C8B-B14F-4D97-AF65-F5344CB8AC3E}">
        <p14:creationId xmlns:p14="http://schemas.microsoft.com/office/powerpoint/2010/main" val="236303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CA8B-0757-F176-5CB9-11D60125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199D-EA9F-F373-F1FB-144C0A542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Experimiento: Hacerlo todo con Claude Code</a:t>
            </a:r>
          </a:p>
        </p:txBody>
      </p:sp>
    </p:spTree>
    <p:extLst>
      <p:ext uri="{BB962C8B-B14F-4D97-AF65-F5344CB8AC3E}">
        <p14:creationId xmlns:p14="http://schemas.microsoft.com/office/powerpoint/2010/main" val="83746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34BF-B583-15DB-FF2A-D9C41248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6D8B-221B-610B-675A-776157C1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385031" cy="1143000"/>
          </a:xfrm>
        </p:spPr>
        <p:txBody>
          <a:bodyPr>
            <a:normAutofit/>
          </a:bodyPr>
          <a:lstStyle/>
          <a:p>
            <a:r>
              <a:rPr lang="en-AR" dirty="0"/>
              <a:t>¡Nace Smalltalk Mentor!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C92DEE-D3D0-8666-C912-D6780218D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43" y="1255534"/>
            <a:ext cx="9021315" cy="506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3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8BAA7-F93C-D3FD-588B-9428BC5F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42FF-AF11-FAE2-32A9-44B9A1295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¿Por qué solo método?</a:t>
            </a:r>
          </a:p>
        </p:txBody>
      </p:sp>
    </p:spTree>
    <p:extLst>
      <p:ext uri="{BB962C8B-B14F-4D97-AF65-F5344CB8AC3E}">
        <p14:creationId xmlns:p14="http://schemas.microsoft.com/office/powerpoint/2010/main" val="271163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EF1D-8833-8676-5F54-91BC5F35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5AE2-61A9-682E-B465-08C5926E0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181" y="608924"/>
            <a:ext cx="11362544" cy="837628"/>
          </a:xfrm>
        </p:spPr>
        <p:txBody>
          <a:bodyPr>
            <a:normAutofit/>
          </a:bodyPr>
          <a:lstStyle/>
          <a:p>
            <a:r>
              <a:rPr lang="en-AR" dirty="0"/>
              <a:t>Clase, paquete,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B0326-481D-D88B-5CFC-D96B939B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43" y="1446552"/>
            <a:ext cx="9032823" cy="50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62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0881-6BB8-A62A-0B72-EB2C3909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A7D5-3381-542D-E226-4E59BAD76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¿Por qué quedarse solo con la respuesta?</a:t>
            </a:r>
          </a:p>
        </p:txBody>
      </p:sp>
    </p:spTree>
    <p:extLst>
      <p:ext uri="{BB962C8B-B14F-4D97-AF65-F5344CB8AC3E}">
        <p14:creationId xmlns:p14="http://schemas.microsoft.com/office/powerpoint/2010/main" val="242902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799A-E6A0-ACF1-D85C-926F2B25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CCB3-978E-19E8-AC9D-C7A45DD64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181" y="608924"/>
            <a:ext cx="11362544" cy="837628"/>
          </a:xfrm>
        </p:spPr>
        <p:txBody>
          <a:bodyPr>
            <a:normAutofit/>
          </a:bodyPr>
          <a:lstStyle/>
          <a:p>
            <a:r>
              <a:rPr lang="en-AR" dirty="0"/>
              <a:t>Conversar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424CE-5411-D8A2-E22F-F2180962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452" y="1386591"/>
            <a:ext cx="8831378" cy="496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8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B9F4-7A52-2593-CCB0-AD1755D1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9F6E-48A9-F84D-0D43-D7EF86DC6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Costo </a:t>
            </a:r>
            <a:r>
              <a:rPr lang="en-AR" dirty="0">
                <a:sym typeface="Wingdings" pitchFamily="2" charset="2"/>
              </a:rPr>
              <a:t> ¿Por qué no tener verificación estática?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09575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3767-A686-6585-5D20-F443187C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5F6E-5B1F-75BA-FA80-B432A7363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181" y="608924"/>
            <a:ext cx="11362544" cy="837628"/>
          </a:xfrm>
        </p:spPr>
        <p:txBody>
          <a:bodyPr>
            <a:normAutofit/>
          </a:bodyPr>
          <a:lstStyle/>
          <a:p>
            <a:r>
              <a:rPr lang="en-AR" dirty="0"/>
              <a:t>Huerísticas Estáticas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9FBF35-6261-E698-CB33-8EA7EE9F7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574" y="1446552"/>
            <a:ext cx="7406390" cy="511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5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0B40-EB51-B418-E3B1-A54C09AD9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E309-03D3-AB93-744A-356B33352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Empecé a ver cómo trabajaba Claude Code…</a:t>
            </a:r>
          </a:p>
        </p:txBody>
      </p:sp>
    </p:spTree>
    <p:extLst>
      <p:ext uri="{BB962C8B-B14F-4D97-AF65-F5344CB8AC3E}">
        <p14:creationId xmlns:p14="http://schemas.microsoft.com/office/powerpoint/2010/main" val="219200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B7F6-E56C-5E67-23E8-7AA1B681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3208-BC24-EC97-4550-393CB53AB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Casi todo era “evaluate”</a:t>
            </a:r>
          </a:p>
        </p:txBody>
      </p:sp>
    </p:spTree>
    <p:extLst>
      <p:ext uri="{BB962C8B-B14F-4D97-AF65-F5344CB8AC3E}">
        <p14:creationId xmlns:p14="http://schemas.microsoft.com/office/powerpoint/2010/main" val="1786061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1A29-030A-E4F2-ACCD-D9513068C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D772-A507-59DD-E448-7D8CA4ACB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Refactorings a mano (evaluate)</a:t>
            </a:r>
          </a:p>
        </p:txBody>
      </p:sp>
    </p:spTree>
    <p:extLst>
      <p:ext uri="{BB962C8B-B14F-4D97-AF65-F5344CB8AC3E}">
        <p14:creationId xmlns:p14="http://schemas.microsoft.com/office/powerpoint/2010/main" val="3510626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97CA-912C-AE1E-B587-3AC6285D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F5A7-7F71-55B3-7018-62841D517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¡Cree tools para refactorings!</a:t>
            </a:r>
          </a:p>
        </p:txBody>
      </p:sp>
    </p:spTree>
    <p:extLst>
      <p:ext uri="{BB962C8B-B14F-4D97-AF65-F5344CB8AC3E}">
        <p14:creationId xmlns:p14="http://schemas.microsoft.com/office/powerpoint/2010/main" val="1957723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7B87-E2E0-DDAE-D4BF-5A15F00C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37C1-45F2-72B7-B5DF-140BDC17C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Prueba y error (evaluate)</a:t>
            </a:r>
          </a:p>
        </p:txBody>
      </p:sp>
    </p:spTree>
    <p:extLst>
      <p:ext uri="{BB962C8B-B14F-4D97-AF65-F5344CB8AC3E}">
        <p14:creationId xmlns:p14="http://schemas.microsoft.com/office/powerpoint/2010/main" val="3739622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C3B0-964A-767F-8360-604C117A2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1272-34B1-D3A5-E5CB-2647F1D79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¡Cree tools de debugging!</a:t>
            </a:r>
          </a:p>
        </p:txBody>
      </p:sp>
    </p:spTree>
    <p:extLst>
      <p:ext uri="{BB962C8B-B14F-4D97-AF65-F5344CB8AC3E}">
        <p14:creationId xmlns:p14="http://schemas.microsoft.com/office/powerpoint/2010/main" val="1821565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F29C-D40C-E457-3F03-C584CE75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700A-6B65-3D5D-F2B8-6696B081E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Reimplementaba funcionalidad existente</a:t>
            </a:r>
          </a:p>
        </p:txBody>
      </p:sp>
    </p:spTree>
    <p:extLst>
      <p:ext uri="{BB962C8B-B14F-4D97-AF65-F5344CB8AC3E}">
        <p14:creationId xmlns:p14="http://schemas.microsoft.com/office/powerpoint/2010/main" val="1441085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DCE6-3681-4C02-7B22-0F7150E8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BB34-9FD1-9F39-14C0-5D43FA696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AR" dirty="0"/>
              <a:t>¡Cree tools de búsqueda, hasta por ejemplos!</a:t>
            </a:r>
          </a:p>
        </p:txBody>
      </p:sp>
    </p:spTree>
    <p:extLst>
      <p:ext uri="{BB962C8B-B14F-4D97-AF65-F5344CB8AC3E}">
        <p14:creationId xmlns:p14="http://schemas.microsoft.com/office/powerpoint/2010/main" val="3181579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322C2-BE8F-0CF2-9682-81479041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34EF-9B53-9E32-9C7A-B13B5F400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 err="1"/>
              <a:t>pero</a:t>
            </a:r>
            <a:r>
              <a:rPr lang="en-US" dirty="0"/>
              <a:t> no las </a:t>
            </a:r>
            <a:r>
              <a:rPr lang="en-US" dirty="0" err="1"/>
              <a:t>usaba</a:t>
            </a:r>
            <a:r>
              <a:rPr lang="en-US" dirty="0"/>
              <a:t> …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64580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B6F2-F85C-6007-7121-21F904C2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C508-8944-A899-406C-7F8D23DFC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 err="1"/>
              <a:t>tuve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forzarlo</a:t>
            </a:r>
            <a:r>
              <a:rPr lang="en-US" dirty="0"/>
              <a:t> a </a:t>
            </a:r>
            <a:r>
              <a:rPr lang="en-US" dirty="0" err="1"/>
              <a:t>que</a:t>
            </a:r>
            <a:r>
              <a:rPr lang="en-US" dirty="0"/>
              <a:t> las use:</a:t>
            </a:r>
            <a:br>
              <a:rPr lang="en-US" dirty="0"/>
            </a:br>
            <a:r>
              <a:rPr lang="en-US" dirty="0"/>
              <a:t>“evaluate as last resource”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980444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78DC-121D-A6C0-8485-E7E5DB8A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9218-09DC-F0F5-2B86-D4138D888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 err="1"/>
              <a:t>Ahora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tools,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seguro</a:t>
            </a:r>
            <a:r>
              <a:rPr lang="en-US" dirty="0"/>
              <a:t>”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programar</a:t>
            </a:r>
            <a:r>
              <a:rPr lang="en-US" dirty="0"/>
              <a:t> </a:t>
            </a:r>
            <a:r>
              <a:rPr lang="en-US" dirty="0" err="1"/>
              <a:t>mejor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618549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7CEC-69AF-B09F-0390-F5F1AF71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625F-3C8A-DA9B-E639-C620C603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¿Seguro? 🤔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744319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DBC6-F14A-CD40-BDFB-0FFA6189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953A-DBC3-A640-FA6C-8F7B07813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¡Un </a:t>
            </a:r>
            <a:r>
              <a:rPr lang="en-US" dirty="0" err="1"/>
              <a:t>programador</a:t>
            </a:r>
            <a:r>
              <a:rPr lang="en-US" dirty="0"/>
              <a:t> con </a:t>
            </a:r>
            <a:r>
              <a:rPr lang="en-US" dirty="0" err="1"/>
              <a:t>esos</a:t>
            </a:r>
            <a:r>
              <a:rPr lang="en-US" dirty="0"/>
              <a:t> “skills”</a:t>
            </a:r>
            <a:br>
              <a:rPr lang="en-US" dirty="0"/>
            </a:br>
            <a:r>
              <a:rPr lang="en-US" dirty="0" err="1"/>
              <a:t>programa</a:t>
            </a:r>
            <a:r>
              <a:rPr lang="en-US" dirty="0"/>
              <a:t> major!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690030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BA853-DBFF-2706-09D0-9D2DDC28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0057-D232-721C-0D04-4E73B0148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 err="1"/>
              <a:t>Metáfora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medio para </a:t>
            </a:r>
            <a:br>
              <a:rPr lang="en-US" dirty="0"/>
            </a:br>
            <a:r>
              <a:rPr lang="en-US" dirty="0" err="1"/>
              <a:t>generar</a:t>
            </a:r>
            <a:r>
              <a:rPr lang="en-US" dirty="0"/>
              <a:t> un </a:t>
            </a:r>
            <a:r>
              <a:rPr lang="en-US" dirty="0" err="1"/>
              <a:t>modelo</a:t>
            </a:r>
            <a:r>
              <a:rPr lang="en-US" dirty="0"/>
              <a:t> conceptual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242981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0732-3CA6-ABB6-283D-FC289F76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9298-54E6-6857-D437-B081A0ECA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un </a:t>
            </a:r>
            <a:r>
              <a:rPr lang="en-US" dirty="0" err="1"/>
              <a:t>submarino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530146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F2EF-7831-4144-648C-D1BC1B23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E090-15D6-11CC-94F1-5485D6739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Es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Ballena, es grande,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debajo</a:t>
            </a:r>
            <a:r>
              <a:rPr lang="en-US" dirty="0"/>
              <a:t> del </a:t>
            </a:r>
            <a:r>
              <a:rPr lang="en-US" dirty="0" err="1"/>
              <a:t>agua</a:t>
            </a:r>
            <a:r>
              <a:rPr lang="en-US" dirty="0"/>
              <a:t> y sale a </a:t>
            </a:r>
            <a:r>
              <a:rPr lang="en-US" dirty="0" err="1"/>
              <a:t>tomar</a:t>
            </a:r>
            <a:r>
              <a:rPr lang="en-US" dirty="0"/>
              <a:t> </a:t>
            </a:r>
            <a:r>
              <a:rPr lang="en-US" dirty="0" err="1"/>
              <a:t>aire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175223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5917-9651-5F8D-B696-37F3C79F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CDFB-37DC-37CB-131E-B3339F6F9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Pero, ¿un </a:t>
            </a:r>
            <a:r>
              <a:rPr lang="en-US" dirty="0" err="1"/>
              <a:t>submarino</a:t>
            </a:r>
            <a:r>
              <a:rPr lang="en-US" dirty="0"/>
              <a:t> nada?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296419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6F6D-283C-8251-136C-B069C0B9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7D95-5CBF-531E-E4D9-AE1237CF8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Un </a:t>
            </a:r>
            <a:r>
              <a:rPr lang="en-US" dirty="0" err="1"/>
              <a:t>carruaje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galopa</a:t>
            </a:r>
            <a:br>
              <a:rPr lang="en-US" dirty="0"/>
            </a:br>
            <a:r>
              <a:rPr lang="en-US" dirty="0"/>
              <a:t>Una </a:t>
            </a:r>
            <a:r>
              <a:rPr lang="en-US" dirty="0" err="1"/>
              <a:t>bicicleta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lejos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corre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971033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D716-D3FA-F9D3-86F0-2C7EE34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009B-9B23-2160-3A89-C5C8A5E19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Claude code es </a:t>
            </a:r>
            <a:r>
              <a:rPr lang="en-US" dirty="0" err="1"/>
              <a:t>como</a:t>
            </a:r>
            <a:r>
              <a:rPr lang="en-US" dirty="0"/>
              <a:t> un </a:t>
            </a:r>
            <a:r>
              <a:rPr lang="en-US" dirty="0" err="1"/>
              <a:t>programador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¿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 </a:t>
            </a:r>
            <a:r>
              <a:rPr lang="en-US" dirty="0" err="1"/>
              <a:t>programador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009694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3C1D-EC78-8958-E30D-E6D4AE84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A862-F0B2-003C-9FDB-B8B919C98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¿Le </a:t>
            </a:r>
            <a:r>
              <a:rPr lang="en-US" dirty="0" err="1"/>
              <a:t>conviene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iteraciones</a:t>
            </a:r>
            <a:r>
              <a:rPr lang="en-US" dirty="0"/>
              <a:t> </a:t>
            </a:r>
            <a:r>
              <a:rPr lang="en-US" dirty="0" err="1"/>
              <a:t>cortas</a:t>
            </a:r>
            <a:r>
              <a:rPr lang="en-US" dirty="0"/>
              <a:t> y </a:t>
            </a:r>
            <a:r>
              <a:rPr lang="en-US" dirty="0" err="1"/>
              <a:t>verificables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632924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7CBE-172E-5BAE-787D-FD7EAFBD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8627-932F-1397-704C-81FEBD885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¿Le </a:t>
            </a:r>
            <a:r>
              <a:rPr lang="en-US" dirty="0" err="1"/>
              <a:t>conviene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un </a:t>
            </a:r>
            <a:r>
              <a:rPr lang="en-US" dirty="0" err="1"/>
              <a:t>buen</a:t>
            </a:r>
            <a:r>
              <a:rPr lang="en-US" dirty="0"/>
              <a:t> </a:t>
            </a:r>
            <a:r>
              <a:rPr lang="en-US" dirty="0" err="1"/>
              <a:t>diseño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+cohesion, -</a:t>
            </a:r>
            <a:r>
              <a:rPr lang="en-US" dirty="0" err="1"/>
              <a:t>acoplamiento</a:t>
            </a:r>
            <a:r>
              <a:rPr lang="en-US" dirty="0"/>
              <a:t>, buenos </a:t>
            </a:r>
            <a:r>
              <a:rPr lang="en-US" dirty="0" err="1"/>
              <a:t>nombres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encapsulamiento</a:t>
            </a:r>
            <a:r>
              <a:rPr lang="en-US" dirty="0"/>
              <a:t>, distr. de resp., </a:t>
            </a:r>
            <a:r>
              <a:rPr lang="en-US" dirty="0" err="1"/>
              <a:t>etc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480915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1209-EFA5-76DE-5250-EB5E3B0B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017D-D386-E731-CF0C-C6725215D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¿Le </a:t>
            </a:r>
            <a:r>
              <a:rPr lang="en-US" dirty="0" err="1"/>
              <a:t>conviene</a:t>
            </a:r>
            <a:r>
              <a:rPr lang="en-US" dirty="0"/>
              <a:t> usar </a:t>
            </a:r>
            <a:r>
              <a:rPr lang="en-US" dirty="0" err="1"/>
              <a:t>refactorings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1755140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58A5-0F6E-28EB-1E85-15E832B4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C5DE3-0903-BC80-9906-D04A88C9A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¿Tiene </a:t>
            </a:r>
            <a:r>
              <a:rPr lang="en-US" dirty="0" err="1"/>
              <a:t>sentido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haga</a:t>
            </a:r>
            <a:r>
              <a:rPr lang="en-US" dirty="0"/>
              <a:t> TDD?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1066668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DCBDF-6AFB-E8F4-1DCE-73477F03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4939-EDD2-6CF0-1394-B9C9B3B5F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¿Tiene </a:t>
            </a:r>
            <a:r>
              <a:rPr lang="en-US" dirty="0" err="1"/>
              <a:t>sentido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debuggee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863742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8320-F83F-A236-FB02-62A8B68D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888B-8F78-652F-1D22-FCAB1C858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¿El </a:t>
            </a:r>
            <a:r>
              <a:rPr lang="en-US" dirty="0" err="1"/>
              <a:t>lenguaje</a:t>
            </a:r>
            <a:r>
              <a:rPr lang="en-US" dirty="0"/>
              <a:t> de </a:t>
            </a:r>
            <a:r>
              <a:rPr lang="en-US" dirty="0" err="1"/>
              <a:t>programación</a:t>
            </a:r>
            <a:r>
              <a:rPr lang="en-US" dirty="0"/>
              <a:t>, </a:t>
            </a:r>
            <a:r>
              <a:rPr lang="en-US" dirty="0" err="1"/>
              <a:t>influye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943255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8C4A-B8EB-1F0F-6F9B-39412EBD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F8DC-42FC-2027-164B-40848FD7C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¿La </a:t>
            </a:r>
            <a:r>
              <a:rPr lang="en-US" dirty="0" err="1"/>
              <a:t>información</a:t>
            </a:r>
            <a:r>
              <a:rPr lang="en-US" dirty="0"/>
              <a:t> de </a:t>
            </a:r>
            <a:r>
              <a:rPr lang="en-US" dirty="0" err="1"/>
              <a:t>tipos</a:t>
            </a:r>
            <a:r>
              <a:rPr lang="en-US" dirty="0"/>
              <a:t>, </a:t>
            </a:r>
            <a:r>
              <a:rPr lang="en-US" dirty="0" err="1"/>
              <a:t>influye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1788184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0D58-3D25-0EB4-B66F-FA32D97C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D320-E180-1C2E-C578-76298950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hipótesis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hay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validar</a:t>
            </a:r>
            <a:r>
              <a:rPr lang="en-US" dirty="0"/>
              <a:t> 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7710102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EF0D-E5C6-98F8-E014-D39F1461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FA04-D089-2811-68ED-15F782BFD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 err="1"/>
              <a:t>Medirlo</a:t>
            </a:r>
            <a:r>
              <a:rPr lang="en-US" dirty="0"/>
              <a:t> con tokens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, </a:t>
            </a:r>
            <a:r>
              <a:rPr lang="en-US" dirty="0" err="1"/>
              <a:t>cantidad</a:t>
            </a:r>
            <a:r>
              <a:rPr lang="en-US" dirty="0"/>
              <a:t> de tools </a:t>
            </a:r>
            <a:r>
              <a:rPr lang="en-US" dirty="0" err="1"/>
              <a:t>usadas</a:t>
            </a:r>
            <a:r>
              <a:rPr lang="en-US" dirty="0"/>
              <a:t>, </a:t>
            </a:r>
            <a:r>
              <a:rPr lang="en-US" dirty="0" err="1"/>
              <a:t>calidad</a:t>
            </a:r>
            <a:r>
              <a:rPr lang="en-US" dirty="0"/>
              <a:t> de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generado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782966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F0CE-3426-E092-4E32-C819ECA42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0206-9BD3-D4F7-4C62-062F972B5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…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complejo</a:t>
            </a:r>
            <a:r>
              <a:rPr lang="en-US" dirty="0"/>
              <a:t> y </a:t>
            </a:r>
            <a:r>
              <a:rPr lang="en-US" dirty="0" err="1"/>
              <a:t>costoso</a:t>
            </a:r>
            <a:r>
              <a:rPr lang="en-US" dirty="0"/>
              <a:t> </a:t>
            </a:r>
            <a:r>
              <a:rPr lang="en-US" dirty="0" err="1"/>
              <a:t>hacerlo</a:t>
            </a:r>
            <a:r>
              <a:rPr lang="en-US" dirty="0"/>
              <a:t> …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274388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C16A-BF2A-E4BF-1FD0-8EDE898B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5C1-59B5-F691-D11A-5AB4E396A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Pero hey! </a:t>
            </a:r>
            <a:r>
              <a:rPr lang="en-US" dirty="0" err="1"/>
              <a:t>tenemos</a:t>
            </a:r>
            <a:r>
              <a:rPr lang="en-US" dirty="0"/>
              <a:t> Claude Code!!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066915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9584-0DEF-1BC4-2516-3151EAAF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95458-449F-33D9-C40C-057C10A8F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Le </a:t>
            </a:r>
            <a:r>
              <a:rPr lang="en-US" dirty="0" err="1"/>
              <a:t>pedí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 un Sistema de </a:t>
            </a:r>
            <a:r>
              <a:rPr lang="en-US" dirty="0" err="1"/>
              <a:t>experimentación</a:t>
            </a:r>
            <a:r>
              <a:rPr lang="en-US" dirty="0"/>
              <a:t> </a:t>
            </a:r>
            <a:r>
              <a:rPr lang="en-US" dirty="0" err="1"/>
              <a:t>configurando</a:t>
            </a:r>
            <a:r>
              <a:rPr lang="en-US" dirty="0"/>
              <a:t>: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640640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202020"/>
                </a:solidFill>
                <a:latin typeface="Calibri"/>
              </a:rPr>
              <a:t>¿Q</a:t>
            </a:r>
            <a:r>
              <a:rPr sz="2800" b="1" dirty="0" err="1">
                <a:solidFill>
                  <a:srgbClr val="202020"/>
                </a:solidFill>
                <a:latin typeface="Calibri"/>
              </a:rPr>
              <a:t>ué</a:t>
            </a:r>
            <a:r>
              <a:rPr sz="2800" b="1" dirty="0">
                <a:solidFill>
                  <a:srgbClr val="202020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02020"/>
                </a:solidFill>
                <a:latin typeface="Calibri"/>
              </a:rPr>
              <a:t>herramientas</a:t>
            </a:r>
            <a:r>
              <a:rPr lang="es-ES" sz="2800" b="1" dirty="0">
                <a:solidFill>
                  <a:srgbClr val="202020"/>
                </a:solidFill>
                <a:latin typeface="Calibri"/>
              </a:rPr>
              <a:t>(</a:t>
            </a:r>
            <a:r>
              <a:rPr lang="es-ES" sz="2800" b="1" dirty="0" err="1">
                <a:solidFill>
                  <a:srgbClr val="202020"/>
                </a:solidFill>
                <a:latin typeface="Calibri"/>
              </a:rPr>
              <a:t>tools</a:t>
            </a:r>
            <a:r>
              <a:rPr lang="es-ES" sz="2800" b="1" dirty="0">
                <a:solidFill>
                  <a:srgbClr val="202020"/>
                </a:solidFill>
                <a:latin typeface="Calibri"/>
              </a:rPr>
              <a:t>)</a:t>
            </a:r>
            <a:r>
              <a:rPr sz="2800" b="1" dirty="0">
                <a:solidFill>
                  <a:srgbClr val="202020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02020"/>
                </a:solidFill>
                <a:latin typeface="Calibri"/>
              </a:rPr>
              <a:t>ofrece</a:t>
            </a:r>
            <a:r>
              <a:rPr sz="2800" b="1" dirty="0">
                <a:solidFill>
                  <a:srgbClr val="202020"/>
                </a:solidFill>
                <a:latin typeface="Calibri"/>
              </a:rPr>
              <a:t> </a:t>
            </a:r>
            <a:r>
              <a:rPr lang="es-ES" sz="2800" b="1" dirty="0">
                <a:solidFill>
                  <a:srgbClr val="202020"/>
                </a:solidFill>
                <a:latin typeface="Calibri"/>
              </a:rPr>
              <a:t>el MCP Server/ambiente?</a:t>
            </a:r>
            <a:endParaRPr sz="2800" b="1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Un escenario es lo que queda en la imagen después de cargar sus paquetes y quitar las clases que no debe servir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90471"/>
              </p:ext>
            </p:extLst>
          </p:nvPr>
        </p:nvGraphicFramePr>
        <p:xfrm>
          <a:off x="548640" y="1554480"/>
          <a:ext cx="1109441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6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4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Grupos de herramientas servidos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Schema por request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1-Evaluate+TestRunning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Herramientas</a:t>
                      </a:r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 de imagen</a:t>
                      </a:r>
                      <a:r>
                        <a:rPr lang="es-ES"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: </a:t>
                      </a:r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evaluate</a:t>
                      </a:r>
                      <a:r>
                        <a:rPr lang="es-ES"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grabar</a:t>
                      </a:r>
                      <a:r>
                        <a:rPr lang="es-ES"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 imagen, </a:t>
                      </a:r>
                      <a:r>
                        <a:rPr sz="11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correr</a:t>
                      </a:r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 tests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≈3 KB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2-ModelStructure+Package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1 + estructura del modelo (fuentes de clase/método, jerarquía, senders, implementors, referencias) + paquetes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≈20 KB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3-Search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2 + búsqueda (selectores, código fuente) + method finder (mensajes por ejemplo)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4-Refactoring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3 + refactorizaciones (rename, extract, inline, move, push up/down, insert superclass, …)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≈54–69 KB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5-LiveTyping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University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4 + herramientas de LiveTyping y decoradores de tipos (tipos de variables y métodos; actual senders/implementors)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≈62 KB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6-LiveTypingRefactoring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University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 + decoradores de refactorización en el actual scope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≈68 KB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7-Debug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University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 + herramientas de depuración (todavía sin usar en un experimento)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1-…-University, 4-…-University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University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Igual que 1 y 4 sobre la base University, sin el grupo ni los decoradores de LiveTyping: controles de las celdas LiveTyping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java-gradle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ninguna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Sin servidor MCP: Read, Edit, Write, Bash, Glob, Grep de Claude Code sobre un proyecto Gradle + JUnit 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cuis-script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University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Sin servidor MCP: las mismas herramientas de archivos y shell, scripts corridos en la imagen por la opción -s de la VM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202020"/>
                </a:solidFill>
                <a:latin typeface="Calibri"/>
              </a:rPr>
              <a:t>¿Cómo quiero que use las </a:t>
            </a:r>
            <a:r>
              <a:rPr lang="es-ES" sz="2800" b="1" dirty="0" err="1">
                <a:solidFill>
                  <a:srgbClr val="202020"/>
                </a:solidFill>
                <a:latin typeface="Calibri"/>
              </a:rPr>
              <a:t>tools</a:t>
            </a:r>
            <a:r>
              <a:rPr lang="es-ES" sz="2800" b="1" dirty="0">
                <a:solidFill>
                  <a:srgbClr val="202020"/>
                </a:solidFill>
                <a:latin typeface="Calibri"/>
              </a:rPr>
              <a:t>?</a:t>
            </a:r>
            <a:endParaRPr sz="2800" b="1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Se concatenan en orden en el CLAUDE.md de la celda; '2+8' significa ambos textos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909191"/>
              </p:ext>
            </p:extLst>
          </p:nvPr>
        </p:nvGraphicFramePr>
        <p:xfrm>
          <a:off x="548640" y="1554480"/>
          <a:ext cx="11094414" cy="4245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3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Configuración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202020"/>
                          </a:solidFill>
                          <a:latin typeface="Calibri"/>
                        </a:rPr>
                        <a:t>Significa</a:t>
                      </a:r>
                      <a:endParaRPr sz="1200" b="1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1-Empty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Nada (CLAUDE.md sin contenido)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2-EvaluateAsLastResource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Usar smalltalk_evaluate solo cuando ninguna otra herramienta puede hacer la tarea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3-SearchBeforeImplement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Antes de implementar sobre clases base, buscar selectores, código fuente y mensajes por ejemplo; reutilizar lo que existe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4-Refactoring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Al cambiar código existente, las refactorizaciones tienen prioridad sobre definir o borrar a mano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5-LiveTyping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Usar la información de tipos de LiveTyping tanto como sea posible; preferir actual senders e implementors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6-LiveTypingRefactoring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Cuando una refactorización ofrece el actual scope, usarlo sobre cualquier otro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7-DesignHeuristics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Cargar y seguir el skill smalltalk-design-heuristics (skills copiados a la celda, archivos referenciados inlineados)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8-DesignHeuristicsInline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El archivo completo de heurísticas de SmalltalkMentor (≈8,5 KB) pegado en CLAUDE.md, siempre en contexto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9-BatchFirst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Usar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smalltalk_batch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sobre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cualquier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otra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forma de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trabajar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: un batch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por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paso de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trabajo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;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una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herramienta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sola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únicamente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cuando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el paso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siguiente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depende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de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su</a:t>
                      </a:r>
                      <a:r>
                        <a:rPr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respuesta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10-NoRenames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No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renombrar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nada: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conservar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cada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nombre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de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clase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, selector y variable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tal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como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viene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;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mejorar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el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diseño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solo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por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estructura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(lo nuevo se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nombra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libremente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40069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607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Calibri"/>
              </a:rPr>
              <a:t>Técnicas (agregadas al prompt): free = solo el enunciado; tdd = un test que falla por vez, correrlo, el mínimo código, correr todos, refactorizar; test-after = implementar primero, después escribir y correr los tests.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B8A39-AF11-B49A-D7BA-9929C1E7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8BE301-10AA-0D63-9AEB-DB5C69CCCDC7}"/>
              </a:ext>
            </a:extLst>
          </p:cNvPr>
          <p:cNvSpPr txBox="1"/>
          <p:nvPr/>
        </p:nvSpPr>
        <p:spPr>
          <a:xfrm>
            <a:off x="548640" y="320040"/>
            <a:ext cx="110944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1" dirty="0">
                <a:solidFill>
                  <a:srgbClr val="202020"/>
                </a:solidFill>
                <a:latin typeface="Calibri"/>
              </a:rPr>
              <a:t>¿Qué proceso de desarrollo debe seguir?</a:t>
            </a:r>
            <a:endParaRPr sz="2800" b="1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C3750-B28B-DB13-48A6-F4D9E6072B13}"/>
              </a:ext>
            </a:extLst>
          </p:cNvPr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86745-3CA4-A5AA-F794-F71C0423E252}"/>
              </a:ext>
            </a:extLst>
          </p:cNvPr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178684-3EB5-D752-F4FC-811C0BA4D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825541"/>
              </p:ext>
            </p:extLst>
          </p:nvPr>
        </p:nvGraphicFramePr>
        <p:xfrm>
          <a:off x="548640" y="1554480"/>
          <a:ext cx="11094414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3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Configuración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202020"/>
                          </a:solidFill>
                          <a:latin typeface="Calibri"/>
                        </a:rPr>
                        <a:t>Significa</a:t>
                      </a:r>
                      <a:endParaRPr sz="1200" b="1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free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Como Claude quiera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tdd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TDD estricto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test-after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rgbClr val="202020"/>
                          </a:solidFill>
                          <a:latin typeface="Calibri"/>
                        </a:rPr>
                        <a:t>Implementar primero, después escribir y correr los </a:t>
                      </a:r>
                      <a:r>
                        <a:rPr lang="es-ES" sz="120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tests</a:t>
                      </a:r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b="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24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1862-23F8-4F5A-42BE-5BF60B7D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7079-91A7-4B51-3566-C155E1228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¿</a:t>
            </a:r>
            <a:r>
              <a:rPr lang="en-US" dirty="0" err="1"/>
              <a:t>Ejercicios</a:t>
            </a:r>
            <a:r>
              <a:rPr lang="en-US" dirty="0"/>
              <a:t>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14193135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AE2D-C8CC-E491-F6E7-C2911C80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E703-20FF-6612-FC7B-68F99ED84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220" y="2595120"/>
            <a:ext cx="11362544" cy="1470025"/>
          </a:xfrm>
        </p:spPr>
        <p:txBody>
          <a:bodyPr>
            <a:normAutofit/>
          </a:bodyPr>
          <a:lstStyle/>
          <a:p>
            <a:r>
              <a:rPr lang="en-US" dirty="0"/>
              <a:t>Miles!! Los </a:t>
            </a:r>
            <a:r>
              <a:rPr lang="en-US" dirty="0" err="1"/>
              <a:t>parciales</a:t>
            </a:r>
            <a:r>
              <a:rPr lang="en-US" dirty="0"/>
              <a:t> +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cursos</a:t>
            </a:r>
            <a:r>
              <a:rPr lang="en-US" dirty="0"/>
              <a:t>!</a:t>
            </a:r>
            <a:br>
              <a:rPr lang="en-US" dirty="0"/>
            </a:br>
            <a:r>
              <a:rPr lang="en-US" dirty="0"/>
              <a:t>Los </a:t>
            </a:r>
            <a:r>
              <a:rPr lang="en-US" dirty="0" err="1"/>
              <a:t>tradujo</a:t>
            </a:r>
            <a:r>
              <a:rPr lang="en-US" dirty="0"/>
              <a:t>, </a:t>
            </a:r>
            <a:r>
              <a:rPr lang="en-US" dirty="0" err="1"/>
              <a:t>limpio</a:t>
            </a:r>
            <a:r>
              <a:rPr lang="en-US" dirty="0"/>
              <a:t> y </a:t>
            </a:r>
            <a:r>
              <a:rPr lang="en-US" dirty="0" err="1"/>
              <a:t>organizó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4208028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Calibri"/>
              </a:rPr>
              <a:t>Ejercicios usados en los experimentos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Enunciados de parciales reescritos como specs, sin referencias a TDD, heurísticas, criterios de corrección ni al PDF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1" cy="4245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3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6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Ejercicio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Título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Código inicial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Tests dados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Usado en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2019-2c-parcial1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Ada's Coffee Shop Rewards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refactorización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13 clases, 48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010, 011, 012, 013, 015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2022-1c-parcial1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Simulador de Fórmula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refactorización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9 clases, 85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011, 015, 017, 018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2025-2c-parcial2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Lectores de tarjeta BAJE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greenfield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 clase vacía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ninguno (tests propios)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012, 013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2023-2c-parcial2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MineField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greenfield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ninguno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ninguno (tests propios)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2025-2c-recuperatorio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Aterrizar.com búsqueda de vuelos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greenfield sobre una clase chica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 clase, 7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2022-1c-recuperatorio-parcial1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CustomerImporter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refactorización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16 clases, 160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014, 016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2019-2c-parcial2-masked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Explorador del lecho marino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funcionalidad sobre una jerarquía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13 clases, 68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014, 016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2024-1c-parcial1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Sims Hotels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refactorización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9 clases, 110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014, 016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2021-1c-parcial1 (+ gemelos nivel 2 y 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RobotWars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refactorización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6 clases, 49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017, 018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2020-2c-parcial1 (+ gemelos nivel 2 y 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Mochila y puerta de aventuras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refactorización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16 clases, 102 métodos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017, 018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66666"/>
                </a:solidFill>
                <a:latin typeface="Calibri"/>
              </a:rPr>
              <a:t>Aceptación = los tests dados, corridos después de la sesión sobre el paquete que dejó el agente; los greenfield sin tests dados se evalúan con los tests del propio agente. Fórmula 1 también tiene gemelos de nivel 2 y 3. Las traducciones a Java de los tres ejercicios de 014 y 016 tienen las mismas clases, métodos, tests y smells.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Calibri"/>
              </a:rPr>
              <a:t>Entorno: el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Cinco scripts, cada uno escribe lo que lee el siguiente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4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9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 err="1">
                          <a:solidFill>
                            <a:srgbClr val="202020"/>
                          </a:solidFill>
                          <a:latin typeface="Calibri"/>
                        </a:rPr>
                        <a:t>Qué</a:t>
                      </a:r>
                      <a:r>
                        <a:rPr sz="1150" b="1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1" dirty="0" err="1">
                          <a:solidFill>
                            <a:srgbClr val="202020"/>
                          </a:solidFill>
                          <a:latin typeface="Calibri"/>
                        </a:rPr>
                        <a:t>hace</a:t>
                      </a:r>
                      <a:endParaRPr sz="1150" b="1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1-createScenarioImage.sh &lt;escenario&gt;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Copia la imagen base, carga las features, elimina los grupos de herramientas y decoradores que el escenario no debe ofrecer, instala las unidades como globales, quita la herramienta batch en los escenarios de solo evaluate, graba y escribe manifest.json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2-runCell.sh --experiment E --scenario S --config C --technique T --exercise X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Una corrida: directorio de trabajo nuevo, copia de la imagen del escenario, servidor MCP en un puerto al azar con un bearer token por corrida, código inicial cargado, warm-up, sesión de Claude Code, recolección (fileout del paquete, imagen grabada, log de llamadas, transcripción, manifest)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2b / 2d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2-runJavaCell.sh / 2-runScriptCell.sh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La misma corrida sin el servidor MCP: Java (Gradle + JUnit) o scripts de Cuis por la opción -s de la VM, con las herramientas de archivos y shell de Claude Code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3-analyzeRun.sh &lt;corrida&gt;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Carga el paquete producido en una imagen de análisis nueva: tests de aceptación y propios, cobertura, test smells, hallazgos del mentor, métricas del AST, diff contra el código inicial, resumen del proceso desde el log de llamadas; escribe analysis.json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5-runMatrix.sh --experiment E --hypothesis ... --cells ... --exercises ... --repetitions 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Planifica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las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celdas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×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ejercicios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×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repeticiones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, las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corre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(dos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en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paralelo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intercaladas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),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analiza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cada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una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, escribe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results.json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y 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table.md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 (matrix-</a:t>
                      </a:r>
                      <a:r>
                        <a:rPr sz="1150" b="0" dirty="0" err="1">
                          <a:solidFill>
                            <a:srgbClr val="202020"/>
                          </a:solidFill>
                          <a:latin typeface="Calibri"/>
                        </a:rPr>
                        <a:t>table.py</a:t>
                      </a:r>
                      <a:r>
                        <a:rPr sz="1150" b="0" dirty="0">
                          <a:solidFill>
                            <a:srgbClr val="20202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Calibri"/>
              </a:rPr>
              <a:t>Cómo funciona una corrida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2-runCell.sh: todo lo que necesita una sesión se construye de cero, y todo lo que hizo se recolecta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Directorio de trabajo en /private/tmp/claude-cells/&lt;id-de-corrida&gt;: CLAUDE.md (la configuración), .claude/skills (si hay), .mcp.json. Fuera de $HOME a propósito (ver contaminación).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Imagen: una copia de la imagen del escenario, iniciada headless con el servidor MCP en un puerto libre y un bearer token al azar escrito solo en el .mcp.json de esa corrida.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Código inicial: el paquete del ejercicio se carga por el servidor; las clases de test dadas forman parte de él.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Warm-up: los tests dados se corren una vez antes de la sesión, así LiveTyping tiene los tipos del código dado en todas las celdas (registrado en warm-up.txt).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Prompt = spec.md + párrafo de la técnica + un párrafo final: trabajar en la imagen viva por las herramientas MCP de Cuis, no hay archivos que editar; clases en la categoría &lt;Paquete&gt;, tests en &lt;Paquete&gt;-Tests.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Sesión: claude -p … (siguiente slide), stdout a claude-stream.jsonl, un watchdog la mata al vencer el timeout, --max-budget-usd limita el gasto.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Recolección: el paquete fileado, los cambios sueltos barridos de los change sets, la imagen grabada, el log de llamadas del servidor (mcp-calls.jsonl), la transcripción y el stream de Claude Code, manifest.json con versiones, hashes, estado, tiempo y uso de tokens.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El análisis (3-analyzeRun.sh) carga después el paquete en una imagen de análisis nueva y escribe analysis.json.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Calibri"/>
              </a:rPr>
              <a:t>Cómo se invoca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094415" cy="190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La llamada headless de 2-runCell.sh, un parámetro por 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02020"/>
                </a:solidFill>
                <a:latin typeface="Menlo"/>
              </a:rPr>
              <a:t>claude -p "$(cat prompt.md)" --model $MODEL --effort $EFFORT \</a:t>
            </a:r>
          </a:p>
          <a:p>
            <a:r>
              <a:rPr sz="1100">
                <a:solidFill>
                  <a:srgbClr val="202020"/>
                </a:solidFill>
                <a:latin typeface="Menlo"/>
              </a:rPr>
              <a:t>  --output-format stream-json --verbose --permission-mode bypassPermissions \</a:t>
            </a:r>
          </a:p>
          <a:p>
            <a:r>
              <a:rPr sz="1100">
                <a:solidFill>
                  <a:srgbClr val="202020"/>
                </a:solidFill>
                <a:latin typeface="Menlo"/>
              </a:rPr>
              <a:t>  --setting-sources project --tools "$BUILTIN_TOOLS" --disable-slash-commands \</a:t>
            </a:r>
          </a:p>
          <a:p>
            <a:r>
              <a:rPr sz="1100">
                <a:solidFill>
                  <a:srgbClr val="202020"/>
                </a:solidFill>
                <a:latin typeface="Menlo"/>
              </a:rPr>
              <a:t>  --mcp-config .mcp.json --strict-mcp-config --max-budget-usd $BUDGET &lt; /dev/null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31720"/>
          <a:ext cx="11094414" cy="3742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1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020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020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02020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-p &lt;prompt&gt;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contenido de prompt.md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Modo print (headless): una tarea, sin terminal, termina al acabar; el prompt queda guardado con la corrida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--model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claude-opus-5 en todas las matrices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El modelo se mantiene constante dentro de un experimento; un factor por vez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--effort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Esfuerzo de razonamiento constante; los tokens de thinking igual se cuentan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--output-format stream-json --verbose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Cada mensaje y cada registro de uso van a claude-stream.jsonl: tokens por request, requests, llamadas, tiempo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--permission-mode bypassPermissions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No hay nadie para aprobar llamadas a herramientas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--setting-sources project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Solo se leen el CLAUDE.md y .claude de la celda; la configuración, memoria y skills del usuario quedan afuera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--tools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"" (o "Skill" cuando la configuración trae skills)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Sin Read, Edit, Write ni Bash: la imagen es el único lugar de trabajo. Las celdas Java y script pasan Read,Edit,Write,Bash,Glob,Grep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--disable-slash-commands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No se filtran comandos ni skills del usuario; se omite solo cuando una configuración instala skills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--mcp-config .mcp.json --strict-mcp-config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Solo el servidor de esta corrida (puerto y token), nada de la configuración MCP del usuario; las celdas Java y script pasan una lista vacía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--max-budget-usd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15 (20 por defecto)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Frena una sesión desbocada; las corridas que lo tocan se excluyen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&lt; /dev/null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Sin stdin: una sesión que pregunta algo termina en vez de esperar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watchdog (no es un flag)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1800 o 2400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020"/>
                          </a:solidFill>
                          <a:latin typeface="Calibri"/>
                        </a:rPr>
                        <a:t>kill -TERM al vencer el timeout; la corrida queda registrada como timed out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D938-6C41-845E-97A7-94A2C205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B794-BC0B-FE3F-1D7A-B4467C01D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55893"/>
            <a:ext cx="11362544" cy="214621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1:</a:t>
            </a:r>
            <a:br>
              <a:rPr lang="en-US" dirty="0"/>
            </a:br>
            <a:r>
              <a:rPr lang="en-US" dirty="0"/>
              <a:t>¿Usar tools </a:t>
            </a:r>
            <a:r>
              <a:rPr lang="en-US" dirty="0" err="1"/>
              <a:t>específicas</a:t>
            </a:r>
            <a:r>
              <a:rPr lang="en-US" dirty="0"/>
              <a:t> (</a:t>
            </a:r>
            <a:r>
              <a:rPr lang="en-US" dirty="0" err="1"/>
              <a:t>define_class</a:t>
            </a:r>
            <a:r>
              <a:rPr lang="en-US" dirty="0"/>
              <a:t>, </a:t>
            </a:r>
            <a:r>
              <a:rPr lang="en-US" dirty="0" err="1"/>
              <a:t>define_method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evaluate, consume </a:t>
            </a:r>
            <a:r>
              <a:rPr lang="en-US" dirty="0" err="1"/>
              <a:t>menos</a:t>
            </a:r>
            <a:r>
              <a:rPr lang="en-US" dirty="0"/>
              <a:t> tokens?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2470236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8AF89-40B5-0665-F8BB-00213DA0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21E7-B055-7B1A-BA1C-8586C3846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357760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1:</a:t>
            </a:r>
            <a:br>
              <a:rPr lang="en-US" dirty="0"/>
            </a:br>
            <a:r>
              <a:rPr lang="en-US" dirty="0"/>
              <a:t>No se </a:t>
            </a:r>
            <a:r>
              <a:rPr lang="en-US" dirty="0" err="1"/>
              <a:t>sostiene</a:t>
            </a:r>
            <a:r>
              <a:rPr lang="en-US" dirty="0"/>
              <a:t> – Se </a:t>
            </a:r>
            <a:r>
              <a:rPr lang="en-US" dirty="0" err="1"/>
              <a:t>ejecuta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cantidad</a:t>
            </a:r>
            <a:r>
              <a:rPr lang="en-US" dirty="0"/>
              <a:t> de tools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9578F-D839-E770-DEA8-7EE31BBE8EDF}"/>
              </a:ext>
            </a:extLst>
          </p:cNvPr>
          <p:cNvSpPr txBox="1"/>
          <p:nvPr/>
        </p:nvSpPr>
        <p:spPr>
          <a:xfrm>
            <a:off x="465667" y="2980267"/>
            <a:ext cx="11150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sz="3200" dirty="0"/>
              <a:t>El costo no está en lo que el agente escribe sino en cuántas veces habla con la API y cuánto contexto lleva cada vez, y las herramientas específicas empeoran las dos cosas frente a evaluate.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sz="3200" dirty="0"/>
              <a:t>Evaluate </a:t>
            </a:r>
            <a:r>
              <a:rPr lang="en-AR" sz="3200" dirty="0">
                <a:sym typeface="Wingdings" pitchFamily="2" charset="2"/>
              </a:rPr>
              <a:t> Muchas cosas a la vez</a:t>
            </a:r>
            <a:endParaRPr lang="en-A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R" sz="3200" dirty="0"/>
              <a:t>Cada llamada a una herramienta es un request, y cada request reenvía toda la conversación</a:t>
            </a:r>
          </a:p>
        </p:txBody>
      </p:sp>
    </p:spTree>
    <p:extLst>
      <p:ext uri="{BB962C8B-B14F-4D97-AF65-F5344CB8AC3E}">
        <p14:creationId xmlns:p14="http://schemas.microsoft.com/office/powerpoint/2010/main" val="346606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BD51-27BB-8A7B-C931-D947C760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BD75-10E7-33BC-5A56-BDD405BD3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55893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2:</a:t>
            </a:r>
            <a:br>
              <a:rPr lang="en-US" dirty="0"/>
            </a:br>
            <a:r>
              <a:rPr lang="en-US" dirty="0"/>
              <a:t>¿Hacer </a:t>
            </a:r>
            <a:r>
              <a:rPr lang="en-US" dirty="0" err="1"/>
              <a:t>que</a:t>
            </a:r>
            <a:r>
              <a:rPr lang="en-US" dirty="0"/>
              <a:t> las tools </a:t>
            </a:r>
            <a:r>
              <a:rPr lang="en-US" dirty="0" err="1"/>
              <a:t>sean</a:t>
            </a:r>
            <a:r>
              <a:rPr lang="en-US" dirty="0"/>
              <a:t> “</a:t>
            </a:r>
            <a:r>
              <a:rPr lang="en-US" dirty="0" err="1"/>
              <a:t>define_classes</a:t>
            </a:r>
            <a:r>
              <a:rPr lang="en-US" dirty="0"/>
              <a:t>”, “</a:t>
            </a:r>
            <a:r>
              <a:rPr lang="en-US" dirty="0" err="1"/>
              <a:t>define_methods</a:t>
            </a:r>
            <a:r>
              <a:rPr lang="en-US" dirty="0"/>
              <a:t>”, </a:t>
            </a:r>
            <a:r>
              <a:rPr lang="en-US" dirty="0" err="1"/>
              <a:t>etc</a:t>
            </a:r>
            <a:r>
              <a:rPr lang="en-US" dirty="0"/>
              <a:t>, le </a:t>
            </a:r>
            <a:r>
              <a:rPr lang="en-US" dirty="0" err="1"/>
              <a:t>gana</a:t>
            </a:r>
            <a:r>
              <a:rPr lang="en-US" dirty="0"/>
              <a:t> al evaluate?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32846939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9778-BE25-2E0E-802F-9285931D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FE45-D87B-98D3-30D9-5E2D28EC0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357760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2:</a:t>
            </a:r>
            <a:br>
              <a:rPr lang="en-US" dirty="0"/>
            </a:br>
            <a:r>
              <a:rPr lang="en-US" dirty="0"/>
              <a:t>Mejoró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alcanzó</a:t>
            </a:r>
            <a:endParaRPr lang="en-A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C6498A-017C-9FC9-CEB2-9DF8ECC1A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7458"/>
              </p:ext>
            </p:extLst>
          </p:nvPr>
        </p:nvGraphicFramePr>
        <p:xfrm>
          <a:off x="833967" y="2503973"/>
          <a:ext cx="10524066" cy="3093031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508022">
                  <a:extLst>
                    <a:ext uri="{9D8B030D-6E8A-4147-A177-3AD203B41FA5}">
                      <a16:colId xmlns:a16="http://schemas.microsoft.com/office/drawing/2014/main" val="995455756"/>
                    </a:ext>
                  </a:extLst>
                </a:gridCol>
                <a:gridCol w="3508022">
                  <a:extLst>
                    <a:ext uri="{9D8B030D-6E8A-4147-A177-3AD203B41FA5}">
                      <a16:colId xmlns:a16="http://schemas.microsoft.com/office/drawing/2014/main" val="1831558953"/>
                    </a:ext>
                  </a:extLst>
                </a:gridCol>
                <a:gridCol w="3508022">
                  <a:extLst>
                    <a:ext uri="{9D8B030D-6E8A-4147-A177-3AD203B41FA5}">
                      <a16:colId xmlns:a16="http://schemas.microsoft.com/office/drawing/2014/main" val="1625561855"/>
                    </a:ext>
                  </a:extLst>
                </a:gridCol>
              </a:tblGrid>
              <a:tr h="8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Ada's Coffee, escenario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002, una cosa por llamada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003, herramientas pluralizadas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2961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Llamadas por corrida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527148"/>
                  </a:ext>
                </a:extLst>
              </a:tr>
              <a:tr h="8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Definición de métodos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48 a 120 llamadas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2 llamadas, 24 métodos cada una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169839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Lectura del 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12 a 21 llamadas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2 llamadas a class_source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259337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Entrada contra 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+157%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+70%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82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4836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32E05-4384-DADD-7D72-B0464429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FAF62-1219-F6C2-993F-AA0573EEB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55893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3:</a:t>
            </a:r>
            <a:br>
              <a:rPr lang="en-US" dirty="0"/>
            </a:br>
            <a:r>
              <a:rPr lang="en-US" dirty="0"/>
              <a:t>¿Hacer </a:t>
            </a:r>
            <a:r>
              <a:rPr lang="en-US" dirty="0" err="1"/>
              <a:t>una</a:t>
            </a:r>
            <a:r>
              <a:rPr lang="en-US" dirty="0"/>
              <a:t> “batch” tool, le </a:t>
            </a:r>
            <a:r>
              <a:rPr lang="en-US" dirty="0" err="1"/>
              <a:t>gana</a:t>
            </a:r>
            <a:r>
              <a:rPr lang="en-US" dirty="0"/>
              <a:t> al evaluate?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9346972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E5884-11E8-2CF3-A280-E4F4C5C8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FC16-52D6-14AB-4931-139B1F7A6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357761"/>
            <a:ext cx="11362544" cy="1521840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3:</a:t>
            </a:r>
            <a:br>
              <a:rPr lang="en-US" dirty="0"/>
            </a:br>
            <a:r>
              <a:rPr lang="en-US" dirty="0"/>
              <a:t>Casi </a:t>
            </a:r>
            <a:r>
              <a:rPr lang="en-US" dirty="0" err="1"/>
              <a:t>igual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evaluate</a:t>
            </a:r>
            <a:endParaRPr lang="en-A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4C8AC8-2920-4345-7657-210855D5A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099392"/>
              </p:ext>
            </p:extLst>
          </p:nvPr>
        </p:nvGraphicFramePr>
        <p:xfrm>
          <a:off x="457200" y="2034381"/>
          <a:ext cx="10769600" cy="283464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309528095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693962699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21939641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25326254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42817195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4107850429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4249174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545638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Etapa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Experimento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Ada's Coffee: 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Llamadas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BAJE: entrada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Llamadas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814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Una cosa por llamada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+157%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104 contra 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27 contra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sin 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6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Pluralizadas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27 contra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11 contra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+287%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83 contra 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44 contra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064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Pluralizadas + 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4 contra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5 contra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8 contra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9 contra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82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755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D987-4AAF-DF79-B199-06906755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01CE2-229E-F947-C740-1885AEB7B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120694"/>
            <a:ext cx="11362544" cy="1521840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3:</a:t>
            </a:r>
            <a:br>
              <a:rPr lang="en-US" dirty="0"/>
            </a:br>
            <a:r>
              <a:rPr lang="en-US" dirty="0"/>
              <a:t>Casi </a:t>
            </a:r>
            <a:r>
              <a:rPr lang="en-US" dirty="0" err="1"/>
              <a:t>igual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evaluate</a:t>
            </a:r>
            <a:endParaRPr lang="en-A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C5832B-602E-A51A-1E16-466B00040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33842"/>
              </p:ext>
            </p:extLst>
          </p:nvPr>
        </p:nvGraphicFramePr>
        <p:xfrm>
          <a:off x="1341967" y="1771899"/>
          <a:ext cx="9508065" cy="457101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901613">
                  <a:extLst>
                    <a:ext uri="{9D8B030D-6E8A-4147-A177-3AD203B41FA5}">
                      <a16:colId xmlns:a16="http://schemas.microsoft.com/office/drawing/2014/main" val="2412351442"/>
                    </a:ext>
                  </a:extLst>
                </a:gridCol>
                <a:gridCol w="1901613">
                  <a:extLst>
                    <a:ext uri="{9D8B030D-6E8A-4147-A177-3AD203B41FA5}">
                      <a16:colId xmlns:a16="http://schemas.microsoft.com/office/drawing/2014/main" val="3153901592"/>
                    </a:ext>
                  </a:extLst>
                </a:gridCol>
                <a:gridCol w="1901613">
                  <a:extLst>
                    <a:ext uri="{9D8B030D-6E8A-4147-A177-3AD203B41FA5}">
                      <a16:colId xmlns:a16="http://schemas.microsoft.com/office/drawing/2014/main" val="796816952"/>
                    </a:ext>
                  </a:extLst>
                </a:gridCol>
                <a:gridCol w="1901613">
                  <a:extLst>
                    <a:ext uri="{9D8B030D-6E8A-4147-A177-3AD203B41FA5}">
                      <a16:colId xmlns:a16="http://schemas.microsoft.com/office/drawing/2014/main" val="855930725"/>
                    </a:ext>
                  </a:extLst>
                </a:gridCol>
                <a:gridCol w="1901613">
                  <a:extLst>
                    <a:ext uri="{9D8B030D-6E8A-4147-A177-3AD203B41FA5}">
                      <a16:colId xmlns:a16="http://schemas.microsoft.com/office/drawing/2014/main" val="3380840359"/>
                    </a:ext>
                  </a:extLst>
                </a:gridCol>
              </a:tblGrid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Medida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 dirty="0"/>
                        <a:t>Ada's Coffee: evaluate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 dirty="0"/>
                        <a:t>2 + batch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BAJE: evaluate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2 + batch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996592765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Tokens de entrada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81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87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 dirty="0"/>
                        <a:t>157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171 k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994282649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Requests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6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5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9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375928861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Llamadas del agente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7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4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13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8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291717819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Operaciones en la imagen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7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21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13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26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105647691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Batches y pasos por batch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0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2 de 9,5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0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3 de 7,3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276002059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Entrada por request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14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17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14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17 k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410756547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Input no cacheado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17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24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24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32 k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176383162"/>
                  </a:ext>
                </a:extLst>
              </a:tr>
              <a:tr h="31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Salida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9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10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/>
                        <a:t>19 k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600" dirty="0"/>
                        <a:t>22 k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19823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941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9141-2E34-0DF1-875B-BE87C149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49B4-DC77-AEFE-6243-CDD41F4F7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120694"/>
            <a:ext cx="11362544" cy="1521840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3:</a:t>
            </a:r>
            <a:br>
              <a:rPr lang="en-US" dirty="0"/>
            </a:br>
            <a:r>
              <a:rPr lang="en-US" dirty="0"/>
              <a:t>Casi </a:t>
            </a:r>
            <a:r>
              <a:rPr lang="en-US" dirty="0" err="1"/>
              <a:t>igual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evaluate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A6CAA-0F17-87C3-DFBF-6D053BB1E72C}"/>
              </a:ext>
            </a:extLst>
          </p:cNvPr>
          <p:cNvSpPr txBox="1"/>
          <p:nvPr/>
        </p:nvSpPr>
        <p:spPr>
          <a:xfrm>
            <a:off x="414729" y="1947333"/>
            <a:ext cx="115402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El batch ataca los requests, que era el problema.</a:t>
            </a:r>
            <a:r>
              <a:rPr lang="en-AR" sz="2400" dirty="0"/>
              <a:t> El agente manda 2 a 3 batches de 7 a 9 pasos y hace menos llamadas y menos requests que el de evaluate, mientras la imagen ejecuta el doble o el triple de operaciones.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No abarata cada request.</a:t>
            </a:r>
            <a:r>
              <a:rPr lang="en-AR" sz="2400" dirty="0"/>
              <a:t> La entrada por request sigue 20 por ciento arriba por el schema de 20 KB, y el input no cacheado 30 a 40 por ciento arriba por las respuestas estructuradas.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Sube la salida 15 a 25 por ciento.</a:t>
            </a:r>
            <a:r>
              <a:rPr lang="en-AR" sz="2400" dirty="0"/>
              <a:t> El cuerpo de un batch es JSON alrededor del mismo código, con un nombre de herramienta y claves de argumentos por paso.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El agente lo usa sin que se lo pidan.</a:t>
            </a:r>
            <a:r>
              <a:rPr lang="en-AR" sz="2400" dirty="0"/>
              <a:t> En 012, sin ninguna guía, hizo 2 a 7 batches por corrida. La cláusula de batch primero solo sube los pasos por batch de 5,7 a 9,5.</a:t>
            </a:r>
          </a:p>
        </p:txBody>
      </p:sp>
    </p:spTree>
    <p:extLst>
      <p:ext uri="{BB962C8B-B14F-4D97-AF65-F5344CB8AC3E}">
        <p14:creationId xmlns:p14="http://schemas.microsoft.com/office/powerpoint/2010/main" val="175882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F4E53-96EF-732E-EF17-4F76E617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D23E-E431-CBCD-0980-9D43679AD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55893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4:</a:t>
            </a:r>
            <a:br>
              <a:rPr lang="en-US" dirty="0"/>
            </a:br>
            <a:r>
              <a:rPr lang="en-US" dirty="0"/>
              <a:t>Usar </a:t>
            </a:r>
            <a:r>
              <a:rPr lang="en-US" dirty="0" err="1"/>
              <a:t>refactorings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“</a:t>
            </a:r>
            <a:r>
              <a:rPr lang="en-US" dirty="0" err="1"/>
              <a:t>programe</a:t>
            </a:r>
            <a:r>
              <a:rPr lang="en-US" dirty="0"/>
              <a:t> major” y </a:t>
            </a:r>
            <a:r>
              <a:rPr lang="en-US" dirty="0" err="1"/>
              <a:t>gasta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token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0431933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B0F6-E5F5-BB8C-BB92-E7458DDF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BD96-A1C6-CA49-880D-7E5A7442E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093427"/>
            <a:ext cx="11362544" cy="323210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4:</a:t>
            </a:r>
            <a:br>
              <a:rPr lang="en-US" dirty="0"/>
            </a:br>
            <a:r>
              <a:rPr lang="en-US" dirty="0"/>
              <a:t>No se </a:t>
            </a:r>
            <a:r>
              <a:rPr lang="en-US" dirty="0" err="1"/>
              <a:t>sostine</a:t>
            </a:r>
            <a:r>
              <a:rPr lang="en-US" dirty="0"/>
              <a:t> la </a:t>
            </a:r>
            <a:r>
              <a:rPr lang="en-US" dirty="0" err="1"/>
              <a:t>hipóstesis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br>
              <a:rPr lang="en-US" dirty="0"/>
            </a:br>
            <a:r>
              <a:rPr lang="en-AR" dirty="0"/>
              <a:t>No ahorran tokens, casi no se usan si no se las pide, y cuando se usan cuestan varias veces más sin que el diseño mejore en lo que medimos</a:t>
            </a:r>
          </a:p>
        </p:txBody>
      </p:sp>
    </p:spTree>
    <p:extLst>
      <p:ext uri="{BB962C8B-B14F-4D97-AF65-F5344CB8AC3E}">
        <p14:creationId xmlns:p14="http://schemas.microsoft.com/office/powerpoint/2010/main" val="40923760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9A6F-F5AA-02D4-C446-F1CAB17E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D413-7D91-D90A-E5CD-9F49853A1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120694"/>
            <a:ext cx="11362544" cy="1073106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4: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21684-BD31-237A-B9B5-4E9C3C4E322A}"/>
              </a:ext>
            </a:extLst>
          </p:cNvPr>
          <p:cNvSpPr txBox="1"/>
          <p:nvPr/>
        </p:nvSpPr>
        <p:spPr>
          <a:xfrm>
            <a:off x="414728" y="1380066"/>
            <a:ext cx="115402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Sin la cláusula no las usa.</a:t>
            </a:r>
            <a:r>
              <a:rPr lang="en-AR" sz="2400" dirty="0"/>
              <a:t> Con las herramientas en la imagen refactoriza a mano, definiendo y borrando métodos. En 013 la única que apareció fue </a:t>
            </a:r>
            <a:r>
              <a:rPr lang="en-AR" dirty="0"/>
              <a:t>remove_instance_variable</a:t>
            </a:r>
            <a:r>
              <a:rPr lang="en-AR" sz="2400" dirty="0"/>
              <a:t>, una vez por corrida.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Cuando no se usan, cuestan igual.</a:t>
            </a:r>
            <a:r>
              <a:rPr lang="en-AR" sz="2400" dirty="0"/>
              <a:t> El schema de 54 a 69 KB viaja en cada request: 33 k de entrada por request contra 14 k de evaluate, con la misma cantidad de requests.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Cuando se usan, cuestan más.</a:t>
            </a:r>
            <a:r>
              <a:rPr lang="en-AR" sz="2400" dirty="0"/>
              <a:t> Cada refactorización es un paso cuyo resultado el agente lee antes de elegir el siguiente, así que el batch no las agrupa: 7 y 14 batches de 4 a 5 pasos, 57 y 31 por ciento más requests que evaluate, salida +65 y +32 por ciento.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No reemplazan todo el trabajo a mano.</a:t>
            </a:r>
            <a:r>
              <a:rPr lang="en-AR" sz="2400" dirty="0"/>
              <a:t> Con la cláusula quedan 4 y 8 refactorizaciones manuales por corrida, casi las mismas que sin ella.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El diseño no se mueve.</a:t>
            </a:r>
            <a:r>
              <a:rPr lang="en-AR" sz="2400" dirty="0"/>
              <a:t> En las 30 corridas de 015: 0 ifs en Ada's Coffee y 5 en Fórmula 1 en todas las celdas, cobertura a 1 punto, hallazgos del mentor a 6, todos los tests en verde.</a:t>
            </a:r>
          </a:p>
        </p:txBody>
      </p:sp>
    </p:spTree>
    <p:extLst>
      <p:ext uri="{BB962C8B-B14F-4D97-AF65-F5344CB8AC3E}">
        <p14:creationId xmlns:p14="http://schemas.microsoft.com/office/powerpoint/2010/main" val="22271914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755D-9CD8-D237-7D8F-684D95A07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5254-182B-F40A-1E5F-CD105EA75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120694"/>
            <a:ext cx="11362544" cy="1073106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4: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9CF51-AFB4-C47B-1516-DD1BD5C86351}"/>
              </a:ext>
            </a:extLst>
          </p:cNvPr>
          <p:cNvSpPr txBox="1"/>
          <p:nvPr/>
        </p:nvSpPr>
        <p:spPr>
          <a:xfrm>
            <a:off x="325898" y="2459504"/>
            <a:ext cx="115402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2400" b="1" dirty="0"/>
              <a:t>Qué quedaría por ver:</a:t>
            </a:r>
            <a:endParaRPr lang="en-A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Los ejercicios son chicos, 50 a 100 métodos, y ahí un rename a mano es seguro y barato. Donde las refactorizaciones podrían pagar es en un sistema grande, con muchos senders fuera del paquete, donde la seguridad valga más que los tokens.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Un schema más chico para que tenerlas disponibles no cueste 2,3 veces.</a:t>
            </a:r>
          </a:p>
        </p:txBody>
      </p:sp>
    </p:spTree>
    <p:extLst>
      <p:ext uri="{BB962C8B-B14F-4D97-AF65-F5344CB8AC3E}">
        <p14:creationId xmlns:p14="http://schemas.microsoft.com/office/powerpoint/2010/main" val="37860882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B4F7-C1A6-44C7-2947-CF8912D6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07D8-40A0-960D-2433-5199F94E5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55893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5:</a:t>
            </a:r>
            <a:br>
              <a:rPr lang="en-US" dirty="0"/>
            </a:br>
            <a:r>
              <a:rPr lang="en-US" dirty="0"/>
              <a:t>Tener </a:t>
            </a:r>
            <a:r>
              <a:rPr lang="en-US" dirty="0" err="1"/>
              <a:t>información</a:t>
            </a:r>
            <a:r>
              <a:rPr lang="en-US" dirty="0"/>
              <a:t> de </a:t>
            </a:r>
            <a:r>
              <a:rPr lang="en-US" dirty="0" err="1"/>
              <a:t>tipos</a:t>
            </a:r>
            <a:r>
              <a:rPr lang="en-US" dirty="0"/>
              <a:t> (</a:t>
            </a:r>
            <a:r>
              <a:rPr lang="en-US" dirty="0" err="1"/>
              <a:t>LiveTyping</a:t>
            </a:r>
            <a:r>
              <a:rPr lang="en-US" dirty="0"/>
              <a:t>)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“</a:t>
            </a:r>
            <a:r>
              <a:rPr lang="en-US" dirty="0" err="1"/>
              <a:t>programe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” y </a:t>
            </a:r>
            <a:r>
              <a:rPr lang="en-US" dirty="0" err="1"/>
              <a:t>gasta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token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5305150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C0F21-A882-AC39-1CCF-459A3791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DF61-3DD2-7F5B-66C9-20B2FB23E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46257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5:</a:t>
            </a:r>
            <a:br>
              <a:rPr lang="en-US" dirty="0"/>
            </a:br>
            <a:r>
              <a:rPr lang="en-US" dirty="0"/>
              <a:t>No se </a:t>
            </a:r>
            <a:r>
              <a:rPr lang="en-US" dirty="0" err="1"/>
              <a:t>mantiene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30F52-C450-9F7C-D401-F38417B2F77B}"/>
              </a:ext>
            </a:extLst>
          </p:cNvPr>
          <p:cNvSpPr txBox="1"/>
          <p:nvPr/>
        </p:nvSpPr>
        <p:spPr>
          <a:xfrm>
            <a:off x="414867" y="2040467"/>
            <a:ext cx="1137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2400" b="1" dirty="0"/>
              <a:t>Por qué no agregó valor</a:t>
            </a:r>
            <a:endParaRPr lang="en-AR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Resolvía un problema que el agente no tenía.</a:t>
            </a:r>
            <a:r>
              <a:rPr lang="en-AR" sz="2400" dirty="0"/>
              <a:t> Los tipos evitan mandar mensajes equivocados, y eso casi no pasaba: un MessageNotUnderstood por corrida y cero o una corrida de tests fallida, igual con LiveTyping que sin él.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Ya infiere los tipos leyendo.</a:t>
            </a:r>
            <a:r>
              <a:rPr lang="en-AR" sz="2400" dirty="0"/>
              <a:t> En ejercicios de 50 a 160 métodos el código y los tests alcanzan, así que no preguntó: tres llamadas a las herramientas de tipos en treinta corridas, aun con la indicación de usarlas.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Los tipos servidos en cada lectura no acortaron nada.</a:t>
            </a:r>
            <a:r>
              <a:rPr lang="en-AR" sz="2400" dirty="0"/>
              <a:t> Exploró lo mismo que su control antes del primer cambio y refactorizó a mano igual.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R" sz="2400" b="1" dirty="0"/>
              <a:t>El precio sí es fijo.</a:t>
            </a:r>
            <a:r>
              <a:rPr lang="en-AR" sz="2400" dirty="0"/>
              <a:t> El schema de 62 a 68 KB viaja en cada request y sube la entrada por request de 30 k a 58 k.</a:t>
            </a:r>
          </a:p>
        </p:txBody>
      </p:sp>
    </p:spTree>
    <p:extLst>
      <p:ext uri="{BB962C8B-B14F-4D97-AF65-F5344CB8AC3E}">
        <p14:creationId xmlns:p14="http://schemas.microsoft.com/office/powerpoint/2010/main" val="11387680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E87B-449A-AAE0-8F49-A0CD3F32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757F-12CF-A1F9-29EF-51DA06A7F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46257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5:</a:t>
            </a:r>
            <a:br>
              <a:rPr lang="en-US" dirty="0"/>
            </a:br>
            <a:r>
              <a:rPr lang="en-US" dirty="0"/>
              <a:t>No se </a:t>
            </a:r>
            <a:r>
              <a:rPr lang="en-US" dirty="0" err="1"/>
              <a:t>mantiene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ED768-6DE4-8858-9E49-D312AEEA6773}"/>
              </a:ext>
            </a:extLst>
          </p:cNvPr>
          <p:cNvSpPr txBox="1"/>
          <p:nvPr/>
        </p:nvSpPr>
        <p:spPr>
          <a:xfrm>
            <a:off x="406400" y="1733593"/>
            <a:ext cx="1137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2400" b="1" dirty="0"/>
              <a:t>Qué queda probar</a:t>
            </a:r>
            <a:endParaRPr lang="en-A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Un sistema grande y desconocido</a:t>
            </a:r>
            <a:r>
              <a:rPr lang="en-AR" sz="2400" dirty="0"/>
              <a:t>, con muchos senders fuera del paquete, donde leer todo para inferir el tipo sea caro y preguntar sea barato. Ninguno de los ejercicios actuales llega.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Una tarea donde el tipo no esté en el código</a:t>
            </a:r>
            <a:r>
              <a:rPr lang="en-AR" sz="2400" dirty="0"/>
              <a:t>, por ejemplo cambiar un método cuyos parámetros solo se conocen en ejecución, midiendo si los tipos evitan la corrida de tests que descubre el error.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Refactorizaciones en el actual scope sobre código con senders ambiguos</a:t>
            </a:r>
            <a:r>
              <a:rPr lang="en-AR" sz="2400" dirty="0"/>
              <a:t>, que es lo que LiveTyping hace único y nunca se llegó a ejecutar ni una vez.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R" sz="2400" b="1" dirty="0"/>
              <a:t>Servir los tipos sin costo de schema</a:t>
            </a:r>
            <a:r>
              <a:rPr lang="en-AR" sz="2400" dirty="0"/>
              <a:t>: que vengan en las respuestas de lectura, sin agregar herramientas. Así se separa el valor de la información del precio de ofrecerla.</a:t>
            </a:r>
          </a:p>
        </p:txBody>
      </p:sp>
    </p:spTree>
    <p:extLst>
      <p:ext uri="{BB962C8B-B14F-4D97-AF65-F5344CB8AC3E}">
        <p14:creationId xmlns:p14="http://schemas.microsoft.com/office/powerpoint/2010/main" val="7193091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D053-AFA9-C996-1EFF-B1C49FB8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0368-8EBE-8584-2AD2-42E79C404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55893"/>
            <a:ext cx="11362544" cy="2146213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6:</a:t>
            </a:r>
            <a:br>
              <a:rPr lang="en-US" dirty="0"/>
            </a:br>
            <a:r>
              <a:rPr lang="en-AR" dirty="0"/>
              <a:t>Refactorizar código con nombres crípticos cuesta más y sale peor que con buenos nombres.</a:t>
            </a:r>
          </a:p>
        </p:txBody>
      </p:sp>
    </p:spTree>
    <p:extLst>
      <p:ext uri="{BB962C8B-B14F-4D97-AF65-F5344CB8AC3E}">
        <p14:creationId xmlns:p14="http://schemas.microsoft.com/office/powerpoint/2010/main" val="2557756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5BD8-6BC1-9755-B343-16B49240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6763-2B4C-EEC2-D8CF-F4A769354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1"/>
            <a:ext cx="11362544" cy="861440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6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E9821-E7FD-31A2-F4EF-F2818EDD4723}"/>
              </a:ext>
            </a:extLst>
          </p:cNvPr>
          <p:cNvSpPr txBox="1"/>
          <p:nvPr/>
        </p:nvSpPr>
        <p:spPr>
          <a:xfrm>
            <a:off x="414867" y="2040467"/>
            <a:ext cx="11379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2400" b="1" dirty="0"/>
              <a:t>Tres casos:</a:t>
            </a:r>
            <a:endParaRPr lang="en-AR" sz="2400" dirty="0"/>
          </a:p>
          <a:p>
            <a:pPr marL="457200" lvl="0" indent="-457200">
              <a:buFont typeface="+mj-lt"/>
              <a:buAutoNum type="arabicPeriod"/>
            </a:pPr>
            <a:r>
              <a:rPr lang="en-AR" sz="2400" dirty="0"/>
              <a:t>Clases </a:t>
            </a:r>
            <a:r>
              <a:rPr lang="en-AR" dirty="0"/>
              <a:t>C1</a:t>
            </a:r>
            <a:r>
              <a:rPr lang="en-AR" sz="2400" dirty="0"/>
              <a:t>, selectores </a:t>
            </a:r>
            <a:r>
              <a:rPr lang="en-AR" dirty="0"/>
              <a:t>m1:a1:</a:t>
            </a:r>
            <a:r>
              <a:rPr lang="en-AR" sz="2400" dirty="0"/>
              <a:t>, variables </a:t>
            </a:r>
            <a:r>
              <a:rPr lang="en-AR" dirty="0"/>
              <a:t>v1</a:t>
            </a:r>
            <a:r>
              <a:rPr lang="en-AR" sz="2400" dirty="0"/>
              <a:t>, temporarias </a:t>
            </a:r>
            <a:r>
              <a:rPr lang="en-AR" dirty="0"/>
              <a:t>t1</a:t>
            </a:r>
            <a:r>
              <a:rPr lang="en-AR" sz="2400" dirty="0"/>
              <a:t>, tests </a:t>
            </a:r>
            <a:r>
              <a:rPr lang="en-AR" dirty="0"/>
              <a:t>test01</a:t>
            </a:r>
            <a:r>
              <a:rPr lang="en-AR" sz="2400" dirty="0"/>
              <a:t>, símbolos </a:t>
            </a:r>
            <a:r>
              <a:rPr lang="en-AR" dirty="0"/>
              <a:t>s1</a:t>
            </a:r>
            <a:r>
              <a:rPr lang="en-AR" sz="2400" dirty="0"/>
              <a:t>, strings </a:t>
            </a:r>
            <a:r>
              <a:rPr lang="en-AR" dirty="0"/>
              <a:t>S1</a:t>
            </a:r>
            <a:r>
              <a:rPr lang="en-AR" sz="2400" dirty="0"/>
              <a:t>, sin comentarios. El enunciado conserva la prosa del dominio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R" sz="2400" dirty="0"/>
              <a:t>Todo lo anterior, y además en el enunciado las palabras con que el autor formó los nombres pasan a </a:t>
            </a:r>
            <a:r>
              <a:rPr lang="en-AR" dirty="0"/>
              <a:t>w1</a:t>
            </a:r>
            <a:r>
              <a:rPr lang="en-AR" sz="2400" dirty="0"/>
              <a:t>, </a:t>
            </a:r>
            <a:r>
              <a:rPr lang="en-AR" dirty="0"/>
              <a:t>w2</a:t>
            </a:r>
            <a:r>
              <a:rPr lang="en-AR" sz="2400" dirty="0"/>
              <a:t>. "Robots have a life time, a speed" queda "W5s have a w7 time, a w6”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R" sz="2400" dirty="0"/>
              <a:t>Todo lo anterior y con una cláusula que prohíbe renombrar</a:t>
            </a:r>
          </a:p>
        </p:txBody>
      </p:sp>
    </p:spTree>
    <p:extLst>
      <p:ext uri="{BB962C8B-B14F-4D97-AF65-F5344CB8AC3E}">
        <p14:creationId xmlns:p14="http://schemas.microsoft.com/office/powerpoint/2010/main" val="35981538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DF68-211B-9EAD-9951-7EEC35E0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8BDC-A6C1-A0D9-949F-8EE1D47B2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1"/>
            <a:ext cx="11362544" cy="1504906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6</a:t>
            </a:r>
            <a:br>
              <a:rPr lang="en-US" dirty="0"/>
            </a:br>
            <a:r>
              <a:rPr lang="en-US" dirty="0"/>
              <a:t>Caso 1: No se </a:t>
            </a:r>
            <a:r>
              <a:rPr lang="en-US" dirty="0" err="1"/>
              <a:t>sostuvo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5F31D-EB61-136C-14E1-B4ACA89CDC06}"/>
              </a:ext>
            </a:extLst>
          </p:cNvPr>
          <p:cNvSpPr txBox="1"/>
          <p:nvPr/>
        </p:nvSpPr>
        <p:spPr>
          <a:xfrm>
            <a:off x="414728" y="2971801"/>
            <a:ext cx="11379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3200" b="1" dirty="0"/>
              <a:t>Resultado</a:t>
            </a:r>
            <a:r>
              <a:rPr lang="en-AR" sz="3200" dirty="0"/>
              <a:t>: el costo no lo decidieron los nombres sino el tamaño del código, porque lo primero que hizo el agente fue reconstruir el vocabulario desde la prosa del enunciado, que el nivel 2 no toca. Recuperó </a:t>
            </a:r>
            <a:r>
              <a:rPr lang="en-AR" sz="3200" i="1" dirty="0"/>
              <a:t>Robot, Weapon, Car, Track, ClosedDoorState</a:t>
            </a:r>
            <a:r>
              <a:rPr lang="en-A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50788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02D78-8C87-D621-DC4D-9F38D6F0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6CEB-7BF3-CA13-3AFE-B13283319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1"/>
            <a:ext cx="11362544" cy="1504906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6</a:t>
            </a:r>
            <a:br>
              <a:rPr lang="en-US" dirty="0"/>
            </a:br>
            <a:r>
              <a:rPr lang="en-US" dirty="0"/>
              <a:t>Caso 2: No se </a:t>
            </a:r>
            <a:r>
              <a:rPr lang="en-US" dirty="0" err="1"/>
              <a:t>sostuvo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E9C11-A992-2BE4-A321-0338CDF06547}"/>
              </a:ext>
            </a:extLst>
          </p:cNvPr>
          <p:cNvSpPr txBox="1"/>
          <p:nvPr/>
        </p:nvSpPr>
        <p:spPr>
          <a:xfrm>
            <a:off x="482462" y="2683934"/>
            <a:ext cx="1137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3200" b="1" dirty="0"/>
              <a:t>Resultado</a:t>
            </a:r>
            <a:r>
              <a:rPr lang="en-AR" sz="3200" dirty="0"/>
              <a:t>: el caso 2 cuesta lo que el caso 1, mismos tests y mismos ifs. Apareció algo que no esperábamos: ese día el agente casi no renombró. En la Mochila dejó 92 a 99 de 130 selectores crípticos y cero llamadas a rename, con la misma configuración, la misma imagen y el mismo prompt que en corrida anterior</a:t>
            </a:r>
          </a:p>
        </p:txBody>
      </p:sp>
    </p:spTree>
    <p:extLst>
      <p:ext uri="{BB962C8B-B14F-4D97-AF65-F5344CB8AC3E}">
        <p14:creationId xmlns:p14="http://schemas.microsoft.com/office/powerpoint/2010/main" val="12692716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B234-FB32-4DBA-C699-312E55DB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769B-B7AA-6044-C279-D9D6C181E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1"/>
            <a:ext cx="11362544" cy="1504906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6</a:t>
            </a:r>
            <a:br>
              <a:rPr lang="en-US" dirty="0"/>
            </a:br>
            <a:r>
              <a:rPr lang="en-US" dirty="0"/>
              <a:t>Caso 3: No se </a:t>
            </a:r>
            <a:r>
              <a:rPr lang="en-US" dirty="0" err="1"/>
              <a:t>sostuvo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03E9B-649A-B91C-6FA7-E7724FC63522}"/>
              </a:ext>
            </a:extLst>
          </p:cNvPr>
          <p:cNvSpPr txBox="1"/>
          <p:nvPr/>
        </p:nvSpPr>
        <p:spPr>
          <a:xfrm>
            <a:off x="533262" y="3429000"/>
            <a:ext cx="1137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R" sz="3200" b="1" dirty="0"/>
              <a:t>Resultado</a:t>
            </a:r>
            <a:r>
              <a:rPr lang="en-AR" sz="3200" dirty="0"/>
              <a:t>: No hizo renames pero los resultados fueron los mismos</a:t>
            </a:r>
          </a:p>
        </p:txBody>
      </p:sp>
    </p:spTree>
    <p:extLst>
      <p:ext uri="{BB962C8B-B14F-4D97-AF65-F5344CB8AC3E}">
        <p14:creationId xmlns:p14="http://schemas.microsoft.com/office/powerpoint/2010/main" val="14019190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31D8-0C49-56B2-E9EC-AC24AEEA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BDC6-632A-C06F-C83F-D212AF116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1"/>
            <a:ext cx="11362544" cy="1504906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6</a:t>
            </a:r>
            <a:br>
              <a:rPr lang="en-US" dirty="0"/>
            </a:br>
            <a:r>
              <a:rPr lang="en-US" dirty="0" err="1"/>
              <a:t>Conclusiones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7C991-18EB-8DAD-CCC1-CD5AD0192925}"/>
              </a:ext>
            </a:extLst>
          </p:cNvPr>
          <p:cNvSpPr txBox="1"/>
          <p:nvPr/>
        </p:nvSpPr>
        <p:spPr>
          <a:xfrm>
            <a:off x="524795" y="2277533"/>
            <a:ext cx="11379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R" sz="3200" dirty="0"/>
              <a:t>El agente refactoriza estructura sin necesitar entender el dominio: extrae duplicación, reemplaza ifs por polimorfismo y mueve métodos mirando la forma del código.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R" sz="3200" dirty="0"/>
              <a:t>Cuando renombra, ahí se van los tokens extra, y renombrar resultó ser una elección inestable entre días, lo cual es en sí un hallazgo sobre la reproducibilidad de estos experimentos.</a:t>
            </a:r>
          </a:p>
        </p:txBody>
      </p:sp>
    </p:spTree>
    <p:extLst>
      <p:ext uri="{BB962C8B-B14F-4D97-AF65-F5344CB8AC3E}">
        <p14:creationId xmlns:p14="http://schemas.microsoft.com/office/powerpoint/2010/main" val="10282120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625B4-6195-4724-C208-F60441A2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6514-DFFE-2CA0-97A5-EF298C3F2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1597046"/>
            <a:ext cx="11362544" cy="366390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7</a:t>
            </a:r>
            <a:br>
              <a:rPr lang="en-US" dirty="0"/>
            </a:br>
            <a:r>
              <a:rPr lang="en-AR" dirty="0"/>
              <a:t>La misma tarea cuesta menos tokens en Cuis que en Java, porque la imagen viva permite leer y escribir métodos, correr los tests al instante, etc, contra un proyecto que se edita por archivos y se corre por un build.</a:t>
            </a:r>
          </a:p>
        </p:txBody>
      </p:sp>
    </p:spTree>
    <p:extLst>
      <p:ext uri="{BB962C8B-B14F-4D97-AF65-F5344CB8AC3E}">
        <p14:creationId xmlns:p14="http://schemas.microsoft.com/office/powerpoint/2010/main" val="26155409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B092-A6E3-4720-E521-3286F69C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8082-206B-B84B-D2F4-47FB47541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420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7</a:t>
            </a:r>
            <a:br>
              <a:rPr lang="en-US" dirty="0"/>
            </a:br>
            <a:r>
              <a:rPr lang="en-US" dirty="0"/>
              <a:t>Scenarios</a:t>
            </a:r>
            <a:endParaRPr lang="en-A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495008-F76F-8EFF-77CE-BE95D4FA0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03091"/>
              </p:ext>
            </p:extLst>
          </p:nvPr>
        </p:nvGraphicFramePr>
        <p:xfrm>
          <a:off x="584269" y="2032000"/>
          <a:ext cx="11209866" cy="201168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1489862011"/>
                    </a:ext>
                  </a:extLst>
                </a:gridCol>
                <a:gridCol w="5492043">
                  <a:extLst>
                    <a:ext uri="{9D8B030D-6E8A-4147-A177-3AD203B41FA5}">
                      <a16:colId xmlns:a16="http://schemas.microsoft.com/office/drawing/2014/main" val="1546664293"/>
                    </a:ext>
                  </a:extLst>
                </a:gridCol>
                <a:gridCol w="3736622">
                  <a:extLst>
                    <a:ext uri="{9D8B030D-6E8A-4147-A177-3AD203B41FA5}">
                      <a16:colId xmlns:a16="http://schemas.microsoft.com/office/drawing/2014/main" val="1324173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Celda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Herramientas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222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Cuis MCP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smalltalk_evaluate y las de correr tests, nada más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herramienta de tests de la imagen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832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Read, Edit, Write, Bash, Glob, Grep de Claude Code, sin servidor MCP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gradle test con JUnit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175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Cuis scripts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las mismas de archivos y shell, sin MCP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./cuis.sh run-tests.st por la opción -s de la VM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4044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F395F9-7F4B-7D57-3BF6-F5B09FCE5E33}"/>
              </a:ext>
            </a:extLst>
          </p:cNvPr>
          <p:cNvSpPr txBox="1"/>
          <p:nvPr/>
        </p:nvSpPr>
        <p:spPr>
          <a:xfrm>
            <a:off x="601133" y="4529667"/>
            <a:ext cx="111761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Los tres ejercicios fueron CustomerImporter, el explorador del lecho marino y Sims Hotels.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La traducción a Java tiene las mismas clases, métodos, tests y smells, verificada por los tests.</a:t>
            </a:r>
          </a:p>
        </p:txBody>
      </p:sp>
    </p:spTree>
    <p:extLst>
      <p:ext uri="{BB962C8B-B14F-4D97-AF65-F5344CB8AC3E}">
        <p14:creationId xmlns:p14="http://schemas.microsoft.com/office/powerpoint/2010/main" val="5942978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F4B9-E32B-C862-6E42-1B9E2556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FC12-016E-8A08-402A-7DF157040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420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7</a:t>
            </a:r>
            <a:br>
              <a:rPr lang="en-US" dirty="0"/>
            </a:br>
            <a:r>
              <a:rPr lang="en-AR" sz="4000" dirty="0"/>
              <a:t>Prueba 1, experimento 006, una corrida por celda, 15-09</a:t>
            </a:r>
            <a:endParaRPr lang="en-A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65D13-AB85-9344-061B-0421D6758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11886"/>
              </p:ext>
            </p:extLst>
          </p:nvPr>
        </p:nvGraphicFramePr>
        <p:xfrm>
          <a:off x="728132" y="2193554"/>
          <a:ext cx="10803468" cy="17373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700867">
                  <a:extLst>
                    <a:ext uri="{9D8B030D-6E8A-4147-A177-3AD203B41FA5}">
                      <a16:colId xmlns:a16="http://schemas.microsoft.com/office/drawing/2014/main" val="3135881276"/>
                    </a:ext>
                  </a:extLst>
                </a:gridCol>
                <a:gridCol w="2700867">
                  <a:extLst>
                    <a:ext uri="{9D8B030D-6E8A-4147-A177-3AD203B41FA5}">
                      <a16:colId xmlns:a16="http://schemas.microsoft.com/office/drawing/2014/main" val="18013737"/>
                    </a:ext>
                  </a:extLst>
                </a:gridCol>
                <a:gridCol w="2700867">
                  <a:extLst>
                    <a:ext uri="{9D8B030D-6E8A-4147-A177-3AD203B41FA5}">
                      <a16:colId xmlns:a16="http://schemas.microsoft.com/office/drawing/2014/main" val="1682084816"/>
                    </a:ext>
                  </a:extLst>
                </a:gridCol>
                <a:gridCol w="2700867">
                  <a:extLst>
                    <a:ext uri="{9D8B030D-6E8A-4147-A177-3AD203B41FA5}">
                      <a16:colId xmlns:a16="http://schemas.microsoft.com/office/drawing/2014/main" val="1560755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Ejercicio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Cuis: entrada / salida /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Java: entrada / salida /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Java contra Cuis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38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CustomerImporter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1.017 k / 39 k /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702 k / 31 k /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-31% entrada, -21% salida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553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Lecho marino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1.876 k / 55 k /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874 k / 48 k / 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-53% entrada, -12% salida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884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Sims Hotels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1.089 k / 37 k /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673 k / 32 k /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-38% entrada, -14% salida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3898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E2C2E0-F0BC-047A-2D3D-71525E5574A0}"/>
              </a:ext>
            </a:extLst>
          </p:cNvPr>
          <p:cNvSpPr txBox="1"/>
          <p:nvPr/>
        </p:nvSpPr>
        <p:spPr>
          <a:xfrm>
            <a:off x="728131" y="4473469"/>
            <a:ext cx="108034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R" sz="2400" dirty="0"/>
              <a:t>Java más barato en los tres, con la misma corrección. Llamativo, porque las fuentes Java son 1,8 a 2,2 veces más largas en líneas.</a:t>
            </a:r>
          </a:p>
        </p:txBody>
      </p:sp>
    </p:spTree>
    <p:extLst>
      <p:ext uri="{BB962C8B-B14F-4D97-AF65-F5344CB8AC3E}">
        <p14:creationId xmlns:p14="http://schemas.microsoft.com/office/powerpoint/2010/main" val="23643549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CE5F-F49E-8BE7-2748-15DFB206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E3F6-E6DC-D31C-2106-80E052EB0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83510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7</a:t>
            </a:r>
            <a:br>
              <a:rPr lang="en-US" dirty="0"/>
            </a:br>
            <a:r>
              <a:rPr lang="en-AR" sz="3100" b="1" dirty="0"/>
              <a:t>Prueba 2, experimento 009, mismo día, 16-09.</a:t>
            </a:r>
            <a:r>
              <a:rPr lang="en-AR" sz="3100" dirty="0"/>
              <a:t> Se agregó una tercera celda, Cuis por scripts, y se repitieron las dos de 006 como control, porque 006 había corrido un día caro.</a:t>
            </a:r>
            <a:endParaRPr lang="en-A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5E3F1-2B5E-22CE-87CF-4B2D2A6F16FE}"/>
              </a:ext>
            </a:extLst>
          </p:cNvPr>
          <p:cNvSpPr txBox="1"/>
          <p:nvPr/>
        </p:nvSpPr>
        <p:spPr>
          <a:xfrm>
            <a:off x="728131" y="4473469"/>
            <a:ext cx="10803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Java contra Cuis MCP el mismo día: +33%, -41%, -24% de entrada. Un empate, no la ventaja de 13 a 24 por ciento del día anterior. El día explicaba 006, no el lenguaje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Usando Scripts envez de MCP Server, da peor aún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8E6FA9-5C75-7FA9-BC98-8285E89B8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805660"/>
              </p:ext>
            </p:extLst>
          </p:nvPr>
        </p:nvGraphicFramePr>
        <p:xfrm>
          <a:off x="609600" y="2384531"/>
          <a:ext cx="10922000" cy="146304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775324529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244307932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529876492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718992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Ejercicio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Cuis MCP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Scripts Cuis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822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CustomerImporter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116 k / 8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154 k / 11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207 k / 14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517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Lecho marino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243 k / 22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143 k / 21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357 k / 29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57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Sims Hotels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294 k / 20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225 k / 16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253 k / 25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01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3498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FA64-834A-8B6D-2912-10979A06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4C85-C53C-58C4-FECE-CA707108B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835107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7</a:t>
            </a:r>
            <a:br>
              <a:rPr lang="en-US" dirty="0"/>
            </a:br>
            <a:r>
              <a:rPr lang="en-AR" sz="3200" dirty="0"/>
              <a:t>Prueba 3, experimento 016, cinco corridas por celda, 17-09. </a:t>
            </a:r>
            <a:br>
              <a:rPr lang="en-AR" sz="3200" dirty="0"/>
            </a:br>
            <a:r>
              <a:rPr lang="en-AR" sz="3200" dirty="0"/>
              <a:t>Esta es la que vale</a:t>
            </a:r>
            <a:r>
              <a:rPr lang="en-AR" sz="3100" dirty="0"/>
              <a:t>.</a:t>
            </a:r>
            <a:endParaRPr lang="en-A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8D489-783F-9DDC-9E13-9DEE1B2035E5}"/>
              </a:ext>
            </a:extLst>
          </p:cNvPr>
          <p:cNvSpPr txBox="1"/>
          <p:nvPr/>
        </p:nvSpPr>
        <p:spPr>
          <a:xfrm>
            <a:off x="694266" y="4667462"/>
            <a:ext cx="10803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R" sz="3600" dirty="0"/>
              <a:t>La hipótesis no se mantiene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0346C6-B84B-1B5A-6188-272E8F036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621183"/>
              </p:ext>
            </p:extLst>
          </p:nvPr>
        </p:nvGraphicFramePr>
        <p:xfrm>
          <a:off x="770465" y="2697480"/>
          <a:ext cx="10727268" cy="146304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159001">
                  <a:extLst>
                    <a:ext uri="{9D8B030D-6E8A-4147-A177-3AD203B41FA5}">
                      <a16:colId xmlns:a16="http://schemas.microsoft.com/office/drawing/2014/main" val="2176165647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4138564827"/>
                    </a:ext>
                  </a:extLst>
                </a:gridCol>
                <a:gridCol w="4428067">
                  <a:extLst>
                    <a:ext uri="{9D8B030D-6E8A-4147-A177-3AD203B41FA5}">
                      <a16:colId xmlns:a16="http://schemas.microsoft.com/office/drawing/2014/main" val="4289751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Ejercicio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Java contra Cuis MCP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Scripts contra Cuis MCP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76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CustomerImporter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-5% entrada, +2% salida, -12%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-1% entrada, +7% salida, +13% tiempo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78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Lecho marino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-3% entrada, -7% salida, -11%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+22% entrada, +17% salida, +32% tiempo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927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Sims Hotels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-22% entrada, -15% salida, -18%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-20% entrada, +19% salida, +31% tiempo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30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4967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87DC1-2545-A349-84EB-28DFB9FC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A875-0EDF-5A8B-7E6E-EE4B68B0D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30760"/>
            <a:ext cx="11362544" cy="13948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7</a:t>
            </a:r>
            <a:br>
              <a:rPr lang="en-US" dirty="0"/>
            </a:br>
            <a:r>
              <a:rPr lang="en-US" dirty="0" err="1"/>
              <a:t>Conclusiones</a:t>
            </a:r>
            <a:endParaRPr lang="en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097E3-A38D-70DF-2622-A834B13E21BE}"/>
              </a:ext>
            </a:extLst>
          </p:cNvPr>
          <p:cNvSpPr txBox="1"/>
          <p:nvPr/>
        </p:nvSpPr>
        <p:spPr>
          <a:xfrm>
            <a:off x="406400" y="2175934"/>
            <a:ext cx="113792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El agente Java casi no usa Read, Edit ni Write: trabaja con Bash como herramienta universal agrupable, imprime cinco archivos en un comando, los escribe con heredocs, edita con scripts de Python y recorta el log del build con tail. Por eso hace la menor cantidad de llamadas, 5 a 9 por corrida contra 9 a 13 del agente MCP.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R" sz="2400" dirty="0"/>
              <a:t>Y los scripts de Cuis escriben 7 a 19 por ciento más salida en todos los ejercicios, porque cada definición viaja dentro de un string de compile: con las comillas duplicadas y la plomería alrededor, más el tiempo de iniciar y grabar una imagen de 45 MB por script.</a:t>
            </a:r>
          </a:p>
        </p:txBody>
      </p:sp>
    </p:spTree>
    <p:extLst>
      <p:ext uri="{BB962C8B-B14F-4D97-AF65-F5344CB8AC3E}">
        <p14:creationId xmlns:p14="http://schemas.microsoft.com/office/powerpoint/2010/main" val="540592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EFA1-DC03-8204-C6A9-CB98E0C5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D0DC-6698-19F8-04F8-90BB0A849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1597047"/>
            <a:ext cx="11362544" cy="2289154"/>
          </a:xfrm>
        </p:spPr>
        <p:txBody>
          <a:bodyPr>
            <a:normAutofit/>
          </a:bodyPr>
          <a:lstStyle/>
          <a:p>
            <a:r>
              <a:rPr lang="en-US" dirty="0" err="1"/>
              <a:t>Hipótesis</a:t>
            </a:r>
            <a:r>
              <a:rPr lang="en-US" dirty="0"/>
              <a:t> 8</a:t>
            </a:r>
            <a:br>
              <a:rPr lang="en-US" dirty="0"/>
            </a:br>
            <a:r>
              <a:rPr lang="en-AR" dirty="0"/>
              <a:t>Hacer TDD genera mejores diseños </a:t>
            </a:r>
            <a:br>
              <a:rPr lang="en-AR" dirty="0"/>
            </a:br>
            <a:r>
              <a:rPr lang="en-AR" dirty="0"/>
              <a:t>que test-after y free</a:t>
            </a:r>
          </a:p>
        </p:txBody>
      </p:sp>
    </p:spTree>
    <p:extLst>
      <p:ext uri="{BB962C8B-B14F-4D97-AF65-F5344CB8AC3E}">
        <p14:creationId xmlns:p14="http://schemas.microsoft.com/office/powerpoint/2010/main" val="36074731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6887-35FA-8451-9A6A-C9FC7165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A97B-7253-2AB5-6265-FDA57E2FD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25447"/>
            <a:ext cx="11362544" cy="140015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8</a:t>
            </a:r>
            <a:br>
              <a:rPr lang="en-US" dirty="0"/>
            </a:br>
            <a:r>
              <a:rPr lang="en-AR" dirty="0"/>
              <a:t>Scenarios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F69B70-6457-C9D2-86D0-B573BE531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71504"/>
              </p:ext>
            </p:extLst>
          </p:nvPr>
        </p:nvGraphicFramePr>
        <p:xfrm>
          <a:off x="888999" y="2057400"/>
          <a:ext cx="10608732" cy="27432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278468">
                  <a:extLst>
                    <a:ext uri="{9D8B030D-6E8A-4147-A177-3AD203B41FA5}">
                      <a16:colId xmlns:a16="http://schemas.microsoft.com/office/drawing/2014/main" val="4091451528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3821384778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299223353"/>
                    </a:ext>
                  </a:extLst>
                </a:gridCol>
                <a:gridCol w="1659464">
                  <a:extLst>
                    <a:ext uri="{9D8B030D-6E8A-4147-A177-3AD203B41FA5}">
                      <a16:colId xmlns:a16="http://schemas.microsoft.com/office/drawing/2014/main" val="2340380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Celda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Escenario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Guía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Técnica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351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3-Search, sin refactorizaciones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heurísticas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TDD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542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4-Refactoring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heurísticas, sin mencionar las herramientas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TDD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123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4-Refactoring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heurísticas + refactorizar con las herramientas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TDD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79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igual que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igual que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test-after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36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igual que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/>
                        <a:t>igual que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dirty="0"/>
                        <a:t>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568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8470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AB19-3497-5AB5-9650-C96D6807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0406-3E67-814D-8280-543DD5BA7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25447"/>
            <a:ext cx="11362544" cy="140015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8</a:t>
            </a:r>
            <a:br>
              <a:rPr lang="en-US" dirty="0"/>
            </a:br>
            <a:r>
              <a:rPr lang="en-AR" dirty="0"/>
              <a:t>Resultados de costo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5574B9-D1EA-8410-CFDF-1463A7780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26050"/>
              </p:ext>
            </p:extLst>
          </p:nvPr>
        </p:nvGraphicFramePr>
        <p:xfrm>
          <a:off x="808564" y="1881710"/>
          <a:ext cx="10574872" cy="4096483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321859">
                  <a:extLst>
                    <a:ext uri="{9D8B030D-6E8A-4147-A177-3AD203B41FA5}">
                      <a16:colId xmlns:a16="http://schemas.microsoft.com/office/drawing/2014/main" val="289940670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2249030486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2744246254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3962814159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1042701629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2641079086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2188825194"/>
                    </a:ext>
                  </a:extLst>
                </a:gridCol>
                <a:gridCol w="1321859">
                  <a:extLst>
                    <a:ext uri="{9D8B030D-6E8A-4147-A177-3AD203B41FA5}">
                      <a16:colId xmlns:a16="http://schemas.microsoft.com/office/drawing/2014/main" val="3343713698"/>
                    </a:ext>
                  </a:extLst>
                </a:gridCol>
              </a:tblGrid>
              <a:tr h="49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Ejercicio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Celda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Entrada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Salida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Requests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Llamadas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Corridas de tests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Segundos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0633961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MineField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A, tdd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9.430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69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158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176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73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1023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4756761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MineField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B, tdd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7.782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80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105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174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49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1047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0949212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MineField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C, tdd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14.970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103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156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237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81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1415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13523064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MineField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D, test-after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579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53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11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29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571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162643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MineField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E, free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780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62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13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26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681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1548803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Aterrizar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A, tdd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6.003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72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82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123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33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2668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35671854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Aterrizar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B, tdd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8.857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75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114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165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49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2800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6341857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Aterrizar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C, tdd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6.826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69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87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123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32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908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5428926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Aterrizar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D, test-after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875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45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17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49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2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486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3538743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Aterrizar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E, free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958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61 k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17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50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/>
                        <a:t>4</a:t>
                      </a:r>
                    </a:p>
                  </a:txBody>
                  <a:tcPr marL="69630" marR="69630" marT="34815" marB="34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400" dirty="0"/>
                        <a:t>1049</a:t>
                      </a:r>
                    </a:p>
                  </a:txBody>
                  <a:tcPr marL="69630" marR="69630" marT="34815" marB="34815" anchor="ctr"/>
                </a:tc>
                <a:extLst>
                  <a:ext uri="{0D108BD9-81ED-4DB2-BD59-A6C34878D82A}">
                    <a16:rowId xmlns:a16="http://schemas.microsoft.com/office/drawing/2014/main" val="211538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6759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30ED-23C0-E057-3328-8D90C4BB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49D6-2A85-09C3-C2CF-0007714A8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25447"/>
            <a:ext cx="11362544" cy="140015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Hipótesis</a:t>
            </a:r>
            <a:r>
              <a:rPr lang="en-US" dirty="0"/>
              <a:t> 8</a:t>
            </a:r>
            <a:br>
              <a:rPr lang="en-US" dirty="0"/>
            </a:br>
            <a:r>
              <a:rPr lang="en-AR" dirty="0"/>
              <a:t>Resultados de calidad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0EDBFE-3E39-1BD3-069C-E9472EA00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968261"/>
              </p:ext>
            </p:extLst>
          </p:nvPr>
        </p:nvGraphicFramePr>
        <p:xfrm>
          <a:off x="774632" y="1761066"/>
          <a:ext cx="10642736" cy="4265583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330342">
                  <a:extLst>
                    <a:ext uri="{9D8B030D-6E8A-4147-A177-3AD203B41FA5}">
                      <a16:colId xmlns:a16="http://schemas.microsoft.com/office/drawing/2014/main" val="652290227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10998178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773594006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3784803223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460851077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304145473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2115816962"/>
                    </a:ext>
                  </a:extLst>
                </a:gridCol>
                <a:gridCol w="1330342">
                  <a:extLst>
                    <a:ext uri="{9D8B030D-6E8A-4147-A177-3AD203B41FA5}">
                      <a16:colId xmlns:a16="http://schemas.microsoft.com/office/drawing/2014/main" val="2821649548"/>
                    </a:ext>
                  </a:extLst>
                </a:gridCol>
              </a:tblGrid>
              <a:tr h="665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Ejercicio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Celda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Tests propios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Clases / métodos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Ifs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Hallazgos por método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Test smells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Cobertura %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38919335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MineField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A, tdd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39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 / 77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0,75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11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99,6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9110334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MineField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B, tdd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43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11 / 62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8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0,77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3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99,1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36477962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MineField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C, tdd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40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10 / 64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8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0,67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15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99,5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13467384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MineField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D, test-after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54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12 / 81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11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1,26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5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97,4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31499079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MineField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E, free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60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14 / 80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0,86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95,8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9101259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Aterrizar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A, tdd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14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10 / 66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0,56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3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98,1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38123688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Aterrizar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B, tdd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9 / 59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0,66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3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100,0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8193152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Aterrizar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C, tdd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14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9 / 63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0,65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5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96,6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52247967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Aterrizar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D, test-after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23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11 / 69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0,59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2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98,2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12625219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Aterrizar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E, free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19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11 / 64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0,64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/>
                        <a:t>10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R" sz="1300" dirty="0"/>
                        <a:t>99,9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399874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0162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0B42-D4D1-DEB3-BB1E-F58501BF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E52E-2FEB-BF07-A9E8-3984A60E3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28" y="2750090"/>
            <a:ext cx="11362544" cy="1357820"/>
          </a:xfrm>
        </p:spPr>
        <p:txBody>
          <a:bodyPr>
            <a:normAutofit/>
          </a:bodyPr>
          <a:lstStyle/>
          <a:p>
            <a:r>
              <a:rPr lang="es-ES" dirty="0"/>
              <a:t>Conclusiones y cosas para pensar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10642238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3903-2BFD-B34D-5FCF-85DF011F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0BFCB-CCB2-6328-0D0B-4C484D3AF5A4}"/>
              </a:ext>
            </a:extLst>
          </p:cNvPr>
          <p:cNvSpPr txBox="1"/>
          <p:nvPr/>
        </p:nvSpPr>
        <p:spPr>
          <a:xfrm>
            <a:off x="355600" y="1236133"/>
            <a:ext cx="115739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El </a:t>
            </a:r>
            <a:r>
              <a:rPr lang="en-US" sz="4000" dirty="0" err="1"/>
              <a:t>tiempo</a:t>
            </a:r>
            <a:r>
              <a:rPr lang="en-US" sz="4000" dirty="0"/>
              <a:t> de un </a:t>
            </a:r>
            <a:r>
              <a:rPr lang="en-US" sz="4000" dirty="0" err="1"/>
              <a:t>Agente</a:t>
            </a:r>
            <a:r>
              <a:rPr lang="en-US" sz="4000" dirty="0"/>
              <a:t> no es el </a:t>
            </a:r>
            <a:r>
              <a:rPr lang="en-US" sz="4000" dirty="0" err="1"/>
              <a:t>mismo</a:t>
            </a:r>
            <a:r>
              <a:rPr lang="en-US" sz="4000" dirty="0"/>
              <a:t> </a:t>
            </a:r>
            <a:r>
              <a:rPr lang="en-US" sz="4000" dirty="0" err="1"/>
              <a:t>que</a:t>
            </a:r>
            <a:r>
              <a:rPr lang="en-US" sz="4000" dirty="0"/>
              <a:t> el de un Ser Humano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/>
              <a:t>Percibimos</a:t>
            </a:r>
            <a:r>
              <a:rPr lang="en-US" sz="4000" dirty="0"/>
              <a:t> </a:t>
            </a:r>
            <a:r>
              <a:rPr lang="en-US" sz="4000" dirty="0" err="1"/>
              <a:t>como</a:t>
            </a:r>
            <a:r>
              <a:rPr lang="en-US" sz="4000" dirty="0"/>
              <a:t> bueno las </a:t>
            </a:r>
            <a:r>
              <a:rPr lang="en-US" sz="4000" dirty="0" err="1"/>
              <a:t>cosas</a:t>
            </a:r>
            <a:r>
              <a:rPr lang="en-US" sz="4000" dirty="0"/>
              <a:t> </a:t>
            </a:r>
            <a:r>
              <a:rPr lang="en-US" sz="4000" dirty="0" err="1"/>
              <a:t>que</a:t>
            </a:r>
            <a:r>
              <a:rPr lang="en-US" sz="4000" dirty="0"/>
              <a:t> </a:t>
            </a:r>
            <a:r>
              <a:rPr lang="en-US" sz="4000" dirty="0" err="1"/>
              <a:t>hace</a:t>
            </a:r>
            <a:r>
              <a:rPr lang="en-US" sz="4000" dirty="0"/>
              <a:t> Claude y de las </a:t>
            </a:r>
            <a:r>
              <a:rPr lang="en-US" sz="4000" dirty="0" err="1"/>
              <a:t>cuales</a:t>
            </a:r>
            <a:r>
              <a:rPr lang="en-US" sz="4000" dirty="0"/>
              <a:t> no </a:t>
            </a:r>
            <a:r>
              <a:rPr lang="en-US" sz="4000" dirty="0" err="1"/>
              <a:t>tenemos</a:t>
            </a:r>
            <a:r>
              <a:rPr lang="en-US" sz="4000" dirty="0"/>
              <a:t> </a:t>
            </a:r>
            <a:r>
              <a:rPr lang="en-US" sz="4000" dirty="0" err="1"/>
              <a:t>experiencia</a:t>
            </a:r>
            <a:endParaRPr lang="en-US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/>
              <a:t>Paradoja</a:t>
            </a:r>
            <a:r>
              <a:rPr lang="en-US" sz="4000" dirty="0"/>
              <a:t>: Estamos </a:t>
            </a:r>
            <a:r>
              <a:rPr lang="en-US" sz="4000" dirty="0" err="1"/>
              <a:t>mejorando</a:t>
            </a:r>
            <a:r>
              <a:rPr lang="en-US" sz="4000" dirty="0"/>
              <a:t> </a:t>
            </a:r>
            <a:r>
              <a:rPr lang="en-US" sz="4000" dirty="0" err="1"/>
              <a:t>herramientas</a:t>
            </a:r>
            <a:r>
              <a:rPr lang="en-US" sz="4000" dirty="0"/>
              <a:t> </a:t>
            </a:r>
            <a:r>
              <a:rPr lang="en-US" sz="4000" dirty="0" err="1"/>
              <a:t>que</a:t>
            </a:r>
            <a:r>
              <a:rPr lang="en-US" sz="4000" dirty="0"/>
              <a:t> no </a:t>
            </a:r>
            <a:r>
              <a:rPr lang="en-US" sz="4000" dirty="0" err="1"/>
              <a:t>vamos</a:t>
            </a:r>
            <a:r>
              <a:rPr lang="en-US" sz="4000" dirty="0"/>
              <a:t> a usar</a:t>
            </a:r>
            <a:endParaRPr lang="en-AR" sz="4000" dirty="0"/>
          </a:p>
        </p:txBody>
      </p:sp>
    </p:spTree>
    <p:extLst>
      <p:ext uri="{BB962C8B-B14F-4D97-AF65-F5344CB8AC3E}">
        <p14:creationId xmlns:p14="http://schemas.microsoft.com/office/powerpoint/2010/main" val="37065119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F480-E447-A521-7564-C07184D8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F497-C5DA-7027-A4D0-365C5ADB7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67" y="2816246"/>
            <a:ext cx="11878733" cy="1357820"/>
          </a:xfrm>
        </p:spPr>
        <p:txBody>
          <a:bodyPr>
            <a:normAutofit fontScale="90000"/>
          </a:bodyPr>
          <a:lstStyle/>
          <a:p>
            <a:r>
              <a:rPr lang="es-ES" dirty="0"/>
              <a:t>De la misma manera que un </a:t>
            </a:r>
            <a:r>
              <a:rPr lang="es-ES" b="1" i="1" dirty="0"/>
              <a:t>submarino no nada</a:t>
            </a:r>
            <a:r>
              <a:rPr lang="es-ES" dirty="0"/>
              <a:t>,</a:t>
            </a:r>
            <a:br>
              <a:rPr lang="es-ES" dirty="0"/>
            </a:br>
            <a:r>
              <a:rPr lang="es-ES" dirty="0"/>
              <a:t>Claude Code no programa, “</a:t>
            </a:r>
            <a:r>
              <a:rPr lang="es-ES" b="1" i="1" dirty="0"/>
              <a:t>programa artificialmente</a:t>
            </a:r>
            <a:r>
              <a:rPr lang="es-ES" dirty="0"/>
              <a:t>”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57396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5005</Words>
  <Application>Microsoft Macintosh PowerPoint</Application>
  <PresentationFormat>Widescreen</PresentationFormat>
  <Paragraphs>704</Paragraphs>
  <Slides>91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7" baseType="lpstr">
      <vt:lpstr>Aptos</vt:lpstr>
      <vt:lpstr>Arial</vt:lpstr>
      <vt:lpstr>Calibri</vt:lpstr>
      <vt:lpstr>Menlo</vt:lpstr>
      <vt:lpstr>Wingdings</vt:lpstr>
      <vt:lpstr>Office Theme</vt:lpstr>
      <vt:lpstr>PowerPoint Presentation</vt:lpstr>
      <vt:lpstr>Todo empezó con Joel usando  “un MCP Server” en el GUIDesigner</vt:lpstr>
      <vt:lpstr>Tool: evaluate</vt:lpstr>
      <vt:lpstr>Otras tools: save_image, define_class, define_method, etc</vt:lpstr>
      <vt:lpstr>Comunicación: stdio (uno x sesión, limite de size de string)</vt:lpstr>
      <vt:lpstr>Un alumno me pide que le diriga la tesis…</vt:lpstr>
      <vt:lpstr>Muchas ideas: refactorings, asistente de programación, etc</vt:lpstr>
      <vt:lpstr>Asistente de programación …</vt:lpstr>
      <vt:lpstr>¿Por qué no hacer que desde Smalltalk se le pueda preguntar a un LLM?</vt:lpstr>
      <vt:lpstr>Experimiento: Hacerlo todo con Claude Code</vt:lpstr>
      <vt:lpstr>¡Nace Smalltalk Mentor!</vt:lpstr>
      <vt:lpstr>¿Por qué solo método?</vt:lpstr>
      <vt:lpstr>Clase, paquete, etc.</vt:lpstr>
      <vt:lpstr>¿Por qué quedarse solo con la respuesta?</vt:lpstr>
      <vt:lpstr>Conversar</vt:lpstr>
      <vt:lpstr>Costo  ¿Por qué no tener verificación estática?</vt:lpstr>
      <vt:lpstr>Huerísticas Estáticas</vt:lpstr>
      <vt:lpstr>Empecé a ver cómo trabajaba Claude Code…</vt:lpstr>
      <vt:lpstr>Casi todo era “evaluate”</vt:lpstr>
      <vt:lpstr>Refactorings a mano (evaluate)</vt:lpstr>
      <vt:lpstr>¡Cree tools para refactorings!</vt:lpstr>
      <vt:lpstr>Prueba y error (evaluate)</vt:lpstr>
      <vt:lpstr>¡Cree tools de debugging!</vt:lpstr>
      <vt:lpstr>Reimplementaba funcionalidad existente</vt:lpstr>
      <vt:lpstr>¡Cree tools de búsqueda, hasta por ejemplos!</vt:lpstr>
      <vt:lpstr>pero no las usaba …</vt:lpstr>
      <vt:lpstr>tuve que forzarlo a que las use: “evaluate as last resource”</vt:lpstr>
      <vt:lpstr>Ahora que tiene todas estas tools,  “seguro” va a programar mejor</vt:lpstr>
      <vt:lpstr>¿Seguro? 🤔</vt:lpstr>
      <vt:lpstr>¡Un programador con esos “skills” programa major!</vt:lpstr>
      <vt:lpstr>Metáfora como medio para  generar un modelo conceptual</vt:lpstr>
      <vt:lpstr>¿Qué es un submarino?</vt:lpstr>
      <vt:lpstr>Es como una Ballena, es grande, va por debajo del agua y sale a tomar aire</vt:lpstr>
      <vt:lpstr>Pero, ¿un submarino nada?</vt:lpstr>
      <vt:lpstr>Un carruaje va rápido, pero no galopa Una bicicleta va más lejos, pero no corre</vt:lpstr>
      <vt:lpstr>Claude code es como un programador,  ¿pero programa como un programador?</vt:lpstr>
      <vt:lpstr>¿Le conviene hacer iteraciones cortas y verificables?</vt:lpstr>
      <vt:lpstr>¿Le conviene tener un buen diseño? +cohesion, -acoplamiento, buenos nombres,  encapsulamiento, distr. de resp., etc</vt:lpstr>
      <vt:lpstr>¿Le conviene usar refactorings?</vt:lpstr>
      <vt:lpstr>¿Tiene sentido que haga TDD?</vt:lpstr>
      <vt:lpstr>¿Tiene sentido que debuggee?</vt:lpstr>
      <vt:lpstr>¿El lenguaje de programación, influye?</vt:lpstr>
      <vt:lpstr>¿La información de tipos, influye?</vt:lpstr>
      <vt:lpstr>Todas hipótesis que hay que validar </vt:lpstr>
      <vt:lpstr>Medirlo con tokens que usa, cantidad de tools usadas, calidad de código generado, etc</vt:lpstr>
      <vt:lpstr>… muy complejo y costoso hacerlo …</vt:lpstr>
      <vt:lpstr>Pero hey! tenemos Claude Code!!</vt:lpstr>
      <vt:lpstr>Le pedí crear un Sistema de experimentación configurando:</vt:lpstr>
      <vt:lpstr>PowerPoint Presentation</vt:lpstr>
      <vt:lpstr>PowerPoint Presentation</vt:lpstr>
      <vt:lpstr>PowerPoint Presentation</vt:lpstr>
      <vt:lpstr>¿Ejercicios?</vt:lpstr>
      <vt:lpstr>Miles!! Los parciales + los cursos! Los tradujo, limpio y organizó</vt:lpstr>
      <vt:lpstr>PowerPoint Presentation</vt:lpstr>
      <vt:lpstr>PowerPoint Presentation</vt:lpstr>
      <vt:lpstr>PowerPoint Presentation</vt:lpstr>
      <vt:lpstr>PowerPoint Presentation</vt:lpstr>
      <vt:lpstr>Hipótesis 1: ¿Usar tools específicas (define_class, define_method, etc) en vez de evaluate, consume menos tokens?</vt:lpstr>
      <vt:lpstr>Hipótesis 1: No se sostiene – Se ejecuta más cantidad de tools</vt:lpstr>
      <vt:lpstr>Hipótesis 2: ¿Hacer que las tools sean “define_classes”, “define_methods”, etc, le gana al evaluate?</vt:lpstr>
      <vt:lpstr>Hipótesis 2: Mejoró pero no alcanzó</vt:lpstr>
      <vt:lpstr>Hipótesis 3: ¿Hacer una “batch” tool, le gana al evaluate?</vt:lpstr>
      <vt:lpstr>Hipótesis 3: Casi igual que evaluate</vt:lpstr>
      <vt:lpstr>Hipótesis 3: Casi igual que evaluate</vt:lpstr>
      <vt:lpstr>Hipótesis 3: Casi igual que evaluate</vt:lpstr>
      <vt:lpstr>Hipótesis 4: Usar refactorings hace que “programe major” y gasta menos token</vt:lpstr>
      <vt:lpstr>Hipótesis 4: No se sostine la hipóstesis   No ahorran tokens, casi no se usan si no se las pide, y cuando se usan cuestan varias veces más sin que el diseño mejore en lo que medimos</vt:lpstr>
      <vt:lpstr>Hipótesis 4:</vt:lpstr>
      <vt:lpstr>Hipótesis 4:</vt:lpstr>
      <vt:lpstr>Hipótesis 5: Tener información de tipos (LiveTyping) hace que “programe mejor” y gasta menos token</vt:lpstr>
      <vt:lpstr>Hipótesis 5: No se mantiene</vt:lpstr>
      <vt:lpstr>Hipótesis 5: No se mantiene</vt:lpstr>
      <vt:lpstr>Hipótesis 6: Refactorizar código con nombres crípticos cuesta más y sale peor que con buenos nombres.</vt:lpstr>
      <vt:lpstr>Hipótesis 6</vt:lpstr>
      <vt:lpstr>Hipótesis 6 Caso 1: No se sostuvo</vt:lpstr>
      <vt:lpstr>Hipótesis 6 Caso 2: No se sostuvo</vt:lpstr>
      <vt:lpstr>Hipótesis 6 Caso 3: No se sostuvo</vt:lpstr>
      <vt:lpstr>Hipótesis 6 Conclusiones</vt:lpstr>
      <vt:lpstr>Hipótesis 7 La misma tarea cuesta menos tokens en Cuis que en Java, porque la imagen viva permite leer y escribir métodos, correr los tests al instante, etc, contra un proyecto que se edita por archivos y se corre por un build.</vt:lpstr>
      <vt:lpstr>Hipótesis 7 Scenarios</vt:lpstr>
      <vt:lpstr>Hipótesis 7 Prueba 1, experimento 006, una corrida por celda, 15-09</vt:lpstr>
      <vt:lpstr>Hipótesis 7 Prueba 2, experimento 009, mismo día, 16-09. Se agregó una tercera celda, Cuis por scripts, y se repitieron las dos de 006 como control, porque 006 había corrido un día caro.</vt:lpstr>
      <vt:lpstr>Hipótesis 7 Prueba 3, experimento 016, cinco corridas por celda, 17-09.  Esta es la que vale.</vt:lpstr>
      <vt:lpstr>Hipótesis 7 Conclusiones</vt:lpstr>
      <vt:lpstr>Hipótesis 8 Hacer TDD genera mejores diseños  que test-after y free</vt:lpstr>
      <vt:lpstr>Hipótesis 8 Scenarios</vt:lpstr>
      <vt:lpstr>Hipótesis 8 Resultados de costo</vt:lpstr>
      <vt:lpstr>Hipótesis 8 Resultados de calidad</vt:lpstr>
      <vt:lpstr>Conclusiones y cosas para pensar</vt:lpstr>
      <vt:lpstr>PowerPoint Presentation</vt:lpstr>
      <vt:lpstr>De la misma manera que un submarino no nada, Claude Code no programa, “programa artificialmente”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10Pines  Creative Software</cp:lastModifiedBy>
  <cp:revision>5</cp:revision>
  <dcterms:created xsi:type="dcterms:W3CDTF">2013-01-27T09:14:16Z</dcterms:created>
  <dcterms:modified xsi:type="dcterms:W3CDTF">2026-09-17T23:38:23Z</dcterms:modified>
  <cp:category/>
</cp:coreProperties>
</file>